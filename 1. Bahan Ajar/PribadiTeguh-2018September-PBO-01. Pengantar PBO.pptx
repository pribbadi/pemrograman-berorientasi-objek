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handoutMasterIdLst>
    <p:handoutMasterId r:id="rId16"/>
  </p:handoutMasterIdLst>
  <p:sldIdLst>
    <p:sldId id="256" r:id="rId2"/>
    <p:sldId id="518" r:id="rId3"/>
    <p:sldId id="396" r:id="rId4"/>
    <p:sldId id="423" r:id="rId5"/>
    <p:sldId id="424" r:id="rId6"/>
    <p:sldId id="425" r:id="rId7"/>
    <p:sldId id="420" r:id="rId8"/>
    <p:sldId id="431" r:id="rId9"/>
    <p:sldId id="433" r:id="rId10"/>
    <p:sldId id="432" r:id="rId11"/>
    <p:sldId id="434" r:id="rId12"/>
    <p:sldId id="411" r:id="rId13"/>
    <p:sldId id="419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99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928" autoAdjust="0"/>
    <p:restoredTop sz="94660"/>
  </p:normalViewPr>
  <p:slideViewPr>
    <p:cSldViewPr snapToGrid="0">
      <p:cViewPr varScale="1">
        <p:scale>
          <a:sx n="86" d="100"/>
          <a:sy n="86" d="100"/>
        </p:scale>
        <p:origin x="930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9" d="100"/>
          <a:sy n="59" d="100"/>
        </p:scale>
        <p:origin x="2532" y="6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C21BEF-BE28-4E76-9D60-7138FB889744}" type="datetimeFigureOut">
              <a:rPr lang="en-US" smtClean="0"/>
              <a:t>9/17/2018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DA3C49-5868-4E61-A677-62436B9897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599747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CF35F7-200E-49D6-8B7C-AD2DD13040E3}" type="datetimeFigureOut">
              <a:rPr lang="id-ID" smtClean="0"/>
              <a:t>17/09/2018</a:t>
            </a:fld>
            <a:endParaRPr lang="id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d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E517B7-8B0C-443C-8177-3FD29EF0AB98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26627367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 hasCustomPrompt="1"/>
          </p:nvPr>
        </p:nvSpPr>
        <p:spPr>
          <a:xfrm>
            <a:off x="628650" y="2062163"/>
            <a:ext cx="7886700" cy="1396785"/>
          </a:xfrm>
        </p:spPr>
        <p:txBody>
          <a:bodyPr anchor="b">
            <a:normAutofit/>
          </a:bodyPr>
          <a:lstStyle>
            <a:lvl1pPr algn="ctr">
              <a:defRPr sz="6500" b="1">
                <a:latin typeface="Agency FB" panose="020B0503020202020204" pitchFamily="34" charset="0"/>
              </a:defRPr>
            </a:lvl1pPr>
          </a:lstStyle>
          <a:p>
            <a:r>
              <a:rPr lang="en-US" dirty="0" err="1"/>
              <a:t>Judul</a:t>
            </a:r>
            <a:r>
              <a:rPr lang="en-US" dirty="0"/>
              <a:t> </a:t>
            </a:r>
            <a:r>
              <a:rPr lang="en-US" dirty="0" err="1"/>
              <a:t>Presentasi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628650" y="3602038"/>
            <a:ext cx="7886700" cy="1655762"/>
          </a:xfrm>
        </p:spPr>
        <p:txBody>
          <a:bodyPr/>
          <a:lstStyle>
            <a:lvl1pPr marL="0" indent="0" algn="ctr">
              <a:buNone/>
              <a:defRPr sz="2400">
                <a:latin typeface="Agency FB" panose="020B0503020202020204" pitchFamily="34" charset="0"/>
                <a:ea typeface="Adobe Heiti Std R" panose="020B0400000000000000" pitchFamily="34" charset="-128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F297A3D-1EBC-4C20-A6D0-B4AB835648C5}"/>
              </a:ext>
            </a:extLst>
          </p:cNvPr>
          <p:cNvGrpSpPr/>
          <p:nvPr userDrawn="1"/>
        </p:nvGrpSpPr>
        <p:grpSpPr>
          <a:xfrm>
            <a:off x="7418768" y="6522818"/>
            <a:ext cx="1725232" cy="335186"/>
            <a:chOff x="7418768" y="6522818"/>
            <a:chExt cx="1725232" cy="335186"/>
          </a:xfrm>
        </p:grpSpPr>
        <p:sp>
          <p:nvSpPr>
            <p:cNvPr id="20" name="Rectangle 19"/>
            <p:cNvSpPr/>
            <p:nvPr userDrawn="1"/>
          </p:nvSpPr>
          <p:spPr>
            <a:xfrm>
              <a:off x="7418768" y="6541203"/>
              <a:ext cx="1331366" cy="29841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0" rtlCol="0" anchor="ctr"/>
            <a:lstStyle/>
            <a:p>
              <a:pPr marL="0" marR="0" indent="0" algn="r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b="1" i="0" dirty="0" err="1">
                  <a:solidFill>
                    <a:srgbClr val="0070C0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teguh</a:t>
              </a:r>
              <a:r>
                <a:rPr lang="id-ID" sz="1200" b="1" i="0" dirty="0">
                  <a:solidFill>
                    <a:srgbClr val="FF0000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pribadi</a:t>
              </a:r>
              <a:r>
                <a:rPr lang="id-ID" sz="1200" b="1" i="0" dirty="0">
                  <a:solidFill>
                    <a:srgbClr val="002060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.com</a:t>
              </a:r>
              <a:endParaRPr lang="en-US" sz="1200" b="1" i="0" dirty="0">
                <a:solidFill>
                  <a:srgbClr val="002060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endParaRPr>
            </a:p>
          </p:txBody>
        </p:sp>
        <p:sp>
          <p:nvSpPr>
            <p:cNvPr id="25" name="Rectangle 24"/>
            <p:cNvSpPr/>
            <p:nvPr userDrawn="1"/>
          </p:nvSpPr>
          <p:spPr>
            <a:xfrm>
              <a:off x="8667768" y="6522818"/>
              <a:ext cx="476232" cy="33518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indent="0" algn="l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id-ID" sz="1600" b="1" i="0" dirty="0">
                  <a:solidFill>
                    <a:srgbClr val="0070C0"/>
                  </a:solidFill>
                  <a:latin typeface="Rockwell" panose="02060603020205020403" pitchFamily="18" charset="0"/>
                  <a:cs typeface="Segoe UI Semilight" panose="020B0402040204020203" pitchFamily="34" charset="0"/>
                </a:rPr>
                <a:t>T</a:t>
              </a:r>
              <a:r>
                <a:rPr lang="id-ID" sz="1600" b="1" i="0" dirty="0">
                  <a:solidFill>
                    <a:srgbClr val="FF0000"/>
                  </a:solidFill>
                  <a:latin typeface="Rockwell" panose="02060603020205020403" pitchFamily="18" charset="0"/>
                  <a:cs typeface="Segoe UI Semilight" panose="020B0402040204020203" pitchFamily="34" charset="0"/>
                </a:rPr>
                <a:t>P</a:t>
              </a:r>
              <a:endParaRPr lang="en-US" sz="1600" b="1" i="0" dirty="0">
                <a:solidFill>
                  <a:srgbClr val="FF0000"/>
                </a:solidFill>
                <a:latin typeface="Rockwell" panose="02060603020205020403" pitchFamily="18" charset="0"/>
                <a:cs typeface="Segoe UI Semilight" panose="020B04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31051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http://oconk.heck.in/files/caramemperbaikilamputl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8165" y="496389"/>
            <a:ext cx="1456955" cy="1572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ontent Placeholder 2"/>
          <p:cNvSpPr>
            <a:spLocks noGrp="1"/>
          </p:cNvSpPr>
          <p:nvPr>
            <p:ph idx="1" hasCustomPrompt="1"/>
          </p:nvPr>
        </p:nvSpPr>
        <p:spPr>
          <a:xfrm>
            <a:off x="326571" y="496389"/>
            <a:ext cx="6970341" cy="6022268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/>
            </a:lvl1pPr>
            <a:lvl2pPr marL="685766" indent="-228589">
              <a:buFont typeface="Wingdings" panose="05000000000000000000" pitchFamily="2" charset="2"/>
              <a:buChar char="q"/>
              <a:defRPr/>
            </a:lvl2pPr>
            <a:lvl3pPr marL="1142942" indent="-228589">
              <a:buFont typeface="Wingdings" panose="05000000000000000000" pitchFamily="2" charset="2"/>
              <a:buChar char="q"/>
              <a:defRPr/>
            </a:lvl3pPr>
            <a:lvl4pPr marL="1600120" indent="-228589">
              <a:buFont typeface="Wingdings" panose="05000000000000000000" pitchFamily="2" charset="2"/>
              <a:buChar char="q"/>
              <a:defRPr/>
            </a:lvl4pPr>
            <a:lvl5pPr marL="2057298" indent="-228589">
              <a:buFont typeface="Wingdings" panose="05000000000000000000" pitchFamily="2" charset="2"/>
              <a:buChar char="q"/>
              <a:defRPr/>
            </a:lvl5pPr>
          </a:lstStyle>
          <a:p>
            <a:pPr lvl="0"/>
            <a:r>
              <a:rPr lang="en-US" dirty="0" err="1"/>
              <a:t>Tulisan</a:t>
            </a:r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CB640A9-E75A-4093-9667-ABD2E89C2AD7}"/>
              </a:ext>
            </a:extLst>
          </p:cNvPr>
          <p:cNvGrpSpPr/>
          <p:nvPr userDrawn="1"/>
        </p:nvGrpSpPr>
        <p:grpSpPr>
          <a:xfrm>
            <a:off x="7418768" y="6522818"/>
            <a:ext cx="1725232" cy="335186"/>
            <a:chOff x="7418768" y="6522818"/>
            <a:chExt cx="1725232" cy="33518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62ED595-A960-4EC6-A66D-72370EA79B32}"/>
                </a:ext>
              </a:extLst>
            </p:cNvPr>
            <p:cNvSpPr/>
            <p:nvPr userDrawn="1"/>
          </p:nvSpPr>
          <p:spPr>
            <a:xfrm>
              <a:off x="7418768" y="6541203"/>
              <a:ext cx="1331366" cy="29841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0" rtlCol="0" anchor="ctr"/>
            <a:lstStyle/>
            <a:p>
              <a:pPr marL="0" marR="0" indent="0" algn="r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b="1" i="0" dirty="0" err="1">
                  <a:solidFill>
                    <a:srgbClr val="0070C0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teguh</a:t>
              </a:r>
              <a:r>
                <a:rPr lang="id-ID" sz="1200" b="1" i="0" dirty="0">
                  <a:solidFill>
                    <a:srgbClr val="FF0000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pribadi</a:t>
              </a:r>
              <a:r>
                <a:rPr lang="id-ID" sz="1200" b="1" i="0" dirty="0">
                  <a:solidFill>
                    <a:srgbClr val="002060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.com</a:t>
              </a:r>
              <a:endParaRPr lang="en-US" sz="1200" b="1" i="0" dirty="0">
                <a:solidFill>
                  <a:srgbClr val="002060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6C5A0C2-4FFC-43FE-AF3C-49817869F3D9}"/>
                </a:ext>
              </a:extLst>
            </p:cNvPr>
            <p:cNvSpPr/>
            <p:nvPr userDrawn="1"/>
          </p:nvSpPr>
          <p:spPr>
            <a:xfrm>
              <a:off x="8667768" y="6522818"/>
              <a:ext cx="476232" cy="33518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indent="0" algn="l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id-ID" sz="1600" b="1" i="0" dirty="0">
                  <a:solidFill>
                    <a:srgbClr val="0070C0"/>
                  </a:solidFill>
                  <a:latin typeface="Rockwell" panose="02060603020205020403" pitchFamily="18" charset="0"/>
                  <a:cs typeface="Segoe UI Semilight" panose="020B0402040204020203" pitchFamily="34" charset="0"/>
                </a:rPr>
                <a:t>T</a:t>
              </a:r>
              <a:r>
                <a:rPr lang="id-ID" sz="1600" b="1" i="0" dirty="0">
                  <a:solidFill>
                    <a:srgbClr val="FF0000"/>
                  </a:solidFill>
                  <a:latin typeface="Rockwell" panose="02060603020205020403" pitchFamily="18" charset="0"/>
                  <a:cs typeface="Segoe UI Semilight" panose="020B0402040204020203" pitchFamily="34" charset="0"/>
                </a:rPr>
                <a:t>P</a:t>
              </a:r>
              <a:endParaRPr lang="en-US" sz="1600" b="1" i="0" dirty="0">
                <a:solidFill>
                  <a:srgbClr val="FF0000"/>
                </a:solidFill>
                <a:latin typeface="Rockwell" panose="02060603020205020403" pitchFamily="18" charset="0"/>
                <a:cs typeface="Segoe UI Semilight" panose="020B04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89234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3767F55E-A8D4-4080-A68C-7A89EBC25F20}"/>
              </a:ext>
            </a:extLst>
          </p:cNvPr>
          <p:cNvGrpSpPr/>
          <p:nvPr userDrawn="1"/>
        </p:nvGrpSpPr>
        <p:grpSpPr>
          <a:xfrm>
            <a:off x="7418768" y="6522814"/>
            <a:ext cx="1725232" cy="335186"/>
            <a:chOff x="7418768" y="6522818"/>
            <a:chExt cx="1725232" cy="335186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D172E93-39AD-4D63-9BA1-B8B65F6D6F1E}"/>
                </a:ext>
              </a:extLst>
            </p:cNvPr>
            <p:cNvSpPr/>
            <p:nvPr userDrawn="1"/>
          </p:nvSpPr>
          <p:spPr>
            <a:xfrm>
              <a:off x="7418768" y="6541203"/>
              <a:ext cx="1331366" cy="29841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0" rtlCol="0" anchor="ctr"/>
            <a:lstStyle/>
            <a:p>
              <a:pPr marL="0" marR="0" indent="0" algn="r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b="1" i="0" dirty="0" err="1">
                  <a:solidFill>
                    <a:srgbClr val="0070C0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teguh</a:t>
              </a:r>
              <a:r>
                <a:rPr lang="id-ID" sz="1200" b="1" i="0" dirty="0">
                  <a:solidFill>
                    <a:srgbClr val="FF0000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pribadi</a:t>
              </a:r>
              <a:r>
                <a:rPr lang="id-ID" sz="1200" b="1" i="0" dirty="0">
                  <a:solidFill>
                    <a:srgbClr val="002060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.com</a:t>
              </a:r>
              <a:endParaRPr lang="en-US" sz="1200" b="1" i="0" dirty="0">
                <a:solidFill>
                  <a:srgbClr val="002060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0B00AE5-724C-4F13-BE78-A3FF537246D8}"/>
                </a:ext>
              </a:extLst>
            </p:cNvPr>
            <p:cNvSpPr/>
            <p:nvPr userDrawn="1"/>
          </p:nvSpPr>
          <p:spPr>
            <a:xfrm>
              <a:off x="8667768" y="6522818"/>
              <a:ext cx="476232" cy="33518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indent="0" algn="l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id-ID" sz="1600" b="1" i="0" dirty="0">
                  <a:solidFill>
                    <a:srgbClr val="0070C0"/>
                  </a:solidFill>
                  <a:latin typeface="Rockwell" panose="02060603020205020403" pitchFamily="18" charset="0"/>
                  <a:cs typeface="Segoe UI Semilight" panose="020B0402040204020203" pitchFamily="34" charset="0"/>
                </a:rPr>
                <a:t>T</a:t>
              </a:r>
              <a:r>
                <a:rPr lang="id-ID" sz="1600" b="1" i="0" dirty="0">
                  <a:solidFill>
                    <a:srgbClr val="FF0000"/>
                  </a:solidFill>
                  <a:latin typeface="Rockwell" panose="02060603020205020403" pitchFamily="18" charset="0"/>
                  <a:cs typeface="Segoe UI Semilight" panose="020B0402040204020203" pitchFamily="34" charset="0"/>
                </a:rPr>
                <a:t>P</a:t>
              </a:r>
              <a:endParaRPr lang="en-US" sz="1600" b="1" i="0" dirty="0">
                <a:solidFill>
                  <a:srgbClr val="FF0000"/>
                </a:solidFill>
                <a:latin typeface="Rockwell" panose="02060603020205020403" pitchFamily="18" charset="0"/>
                <a:cs typeface="Segoe UI Semilight" panose="020B0402040204020203" pitchFamily="34" charset="0"/>
              </a:endParaRPr>
            </a:p>
          </p:txBody>
        </p:sp>
      </p:grp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175263" y="116932"/>
            <a:ext cx="8778231" cy="1233036"/>
          </a:xfrm>
        </p:spPr>
        <p:txBody>
          <a:bodyPr/>
          <a:lstStyle>
            <a:lvl1pPr>
              <a:defRPr baseline="0">
                <a:latin typeface="Agency FB" panose="020B0503020202020204" pitchFamily="34" charset="0"/>
              </a:defRPr>
            </a:lvl1pPr>
          </a:lstStyle>
          <a:p>
            <a:r>
              <a:rPr lang="en-US" dirty="0"/>
              <a:t>Road Map </a:t>
            </a:r>
            <a:r>
              <a:rPr lang="en-US" dirty="0" err="1"/>
              <a:t>Presentasi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idx="1" hasCustomPrompt="1"/>
          </p:nvPr>
        </p:nvSpPr>
        <p:spPr>
          <a:xfrm>
            <a:off x="175269" y="1668282"/>
            <a:ext cx="8778231" cy="4854536"/>
          </a:xfrm>
        </p:spPr>
        <p:txBody>
          <a:bodyPr>
            <a:normAutofit/>
          </a:bodyPr>
          <a:lstStyle>
            <a:lvl1pPr marL="404793" indent="-404793">
              <a:buFont typeface="+mj-lt"/>
              <a:buAutoNum type="romanUcPeriod"/>
              <a:defRPr sz="3200" baseline="0"/>
            </a:lvl1pPr>
            <a:lvl2pPr marL="914354" indent="-457178">
              <a:buFont typeface="+mj-lt"/>
              <a:buAutoNum type="arabicPeriod"/>
              <a:defRPr sz="2800"/>
            </a:lvl2pPr>
            <a:lvl3pPr marL="1371532" indent="-457178">
              <a:buFont typeface="+mj-lt"/>
              <a:buAutoNum type="alphaLcPeriod"/>
              <a:defRPr sz="2400"/>
            </a:lvl3pPr>
            <a:lvl4pPr marL="1714414" indent="-342882">
              <a:buFont typeface="+mj-lt"/>
              <a:buAutoNum type="arabicParenR"/>
              <a:defRPr sz="2000"/>
            </a:lvl4pPr>
            <a:lvl5pPr marL="2171592" indent="-342882">
              <a:buFont typeface="+mj-lt"/>
              <a:buAutoNum type="alphaLcParenR"/>
              <a:defRPr sz="2000"/>
            </a:lvl5pPr>
          </a:lstStyle>
          <a:p>
            <a:pPr lvl="0"/>
            <a:r>
              <a:rPr lang="en-US" dirty="0"/>
              <a:t>Bab </a:t>
            </a:r>
          </a:p>
          <a:p>
            <a:pPr lvl="1"/>
            <a:r>
              <a:rPr lang="en-US" dirty="0"/>
              <a:t>Sub Bab</a:t>
            </a:r>
          </a:p>
          <a:p>
            <a:pPr lvl="2"/>
            <a:r>
              <a:rPr lang="en-US" dirty="0"/>
              <a:t>Sub Bab Level 2</a:t>
            </a:r>
          </a:p>
          <a:p>
            <a:pPr lvl="3"/>
            <a:r>
              <a:rPr lang="en-US" dirty="0"/>
              <a:t>Sub Bab Level 3</a:t>
            </a:r>
          </a:p>
          <a:p>
            <a:pPr lvl="4"/>
            <a:r>
              <a:rPr lang="en-US" dirty="0"/>
              <a:t>Sub Bab level 4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1" y="1391516"/>
            <a:ext cx="8953493" cy="245502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41318140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831851" y="1120463"/>
            <a:ext cx="7410449" cy="2308538"/>
          </a:xfrm>
        </p:spPr>
        <p:txBody>
          <a:bodyPr anchor="b">
            <a:normAutofit/>
          </a:bodyPr>
          <a:lstStyle>
            <a:lvl1pPr>
              <a:defRPr sz="5000">
                <a:latin typeface="Agency FB" panose="020B0503020202020204" pitchFamily="34" charset="0"/>
              </a:defRPr>
            </a:lvl1pPr>
          </a:lstStyle>
          <a:p>
            <a:r>
              <a:rPr lang="en-US" dirty="0"/>
              <a:t>Bab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1"/>
          </p:nvPr>
        </p:nvSpPr>
        <p:spPr>
          <a:xfrm>
            <a:off x="831851" y="3541690"/>
            <a:ext cx="7410449" cy="2547973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tx1">
                    <a:tint val="75000"/>
                  </a:schemeClr>
                </a:solidFill>
                <a:latin typeface="Agency FB" panose="020B0503020202020204" pitchFamily="34" charset="0"/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39DAB42-6B87-4E41-8A58-64139319C82D}"/>
              </a:ext>
            </a:extLst>
          </p:cNvPr>
          <p:cNvGrpSpPr/>
          <p:nvPr userDrawn="1"/>
        </p:nvGrpSpPr>
        <p:grpSpPr>
          <a:xfrm>
            <a:off x="7418768" y="6522814"/>
            <a:ext cx="1725232" cy="335186"/>
            <a:chOff x="7418768" y="6522818"/>
            <a:chExt cx="1725232" cy="33518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2EF7F0A-8D0E-4B48-9292-DB29D3890617}"/>
                </a:ext>
              </a:extLst>
            </p:cNvPr>
            <p:cNvSpPr/>
            <p:nvPr userDrawn="1"/>
          </p:nvSpPr>
          <p:spPr>
            <a:xfrm>
              <a:off x="7418768" y="6541203"/>
              <a:ext cx="1331366" cy="29841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0" rtlCol="0" anchor="ctr"/>
            <a:lstStyle/>
            <a:p>
              <a:pPr marL="0" marR="0" indent="0" algn="r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b="1" i="0" dirty="0" err="1">
                  <a:solidFill>
                    <a:srgbClr val="0070C0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teguh</a:t>
              </a:r>
              <a:r>
                <a:rPr lang="id-ID" sz="1200" b="1" i="0" dirty="0">
                  <a:solidFill>
                    <a:srgbClr val="FF0000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pribadi</a:t>
              </a:r>
              <a:r>
                <a:rPr lang="id-ID" sz="1200" b="1" i="0" dirty="0">
                  <a:solidFill>
                    <a:srgbClr val="002060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.com</a:t>
              </a:r>
              <a:endParaRPr lang="en-US" sz="1200" b="1" i="0" dirty="0">
                <a:solidFill>
                  <a:srgbClr val="002060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E488A89-9A6A-43B3-8B27-1C5F834123EA}"/>
                </a:ext>
              </a:extLst>
            </p:cNvPr>
            <p:cNvSpPr/>
            <p:nvPr userDrawn="1"/>
          </p:nvSpPr>
          <p:spPr>
            <a:xfrm>
              <a:off x="8667768" y="6522818"/>
              <a:ext cx="476232" cy="33518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indent="0" algn="l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id-ID" sz="1600" b="1" i="0" dirty="0">
                  <a:solidFill>
                    <a:srgbClr val="0070C0"/>
                  </a:solidFill>
                  <a:latin typeface="Rockwell" panose="02060603020205020403" pitchFamily="18" charset="0"/>
                  <a:cs typeface="Segoe UI Semilight" panose="020B0402040204020203" pitchFamily="34" charset="0"/>
                </a:rPr>
                <a:t>T</a:t>
              </a:r>
              <a:r>
                <a:rPr lang="id-ID" sz="1600" b="1" i="0" dirty="0">
                  <a:solidFill>
                    <a:srgbClr val="FF0000"/>
                  </a:solidFill>
                  <a:latin typeface="Rockwell" panose="02060603020205020403" pitchFamily="18" charset="0"/>
                  <a:cs typeface="Segoe UI Semilight" panose="020B0402040204020203" pitchFamily="34" charset="0"/>
                </a:rPr>
                <a:t>P</a:t>
              </a:r>
              <a:endParaRPr lang="en-US" sz="1600" b="1" i="0" dirty="0">
                <a:solidFill>
                  <a:srgbClr val="FF0000"/>
                </a:solidFill>
                <a:latin typeface="Rockwell" panose="02060603020205020403" pitchFamily="18" charset="0"/>
                <a:cs typeface="Segoe UI Semilight" panose="020B04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01426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5AEF91FE-CE08-4C64-9D1A-BF086DAC22E9}"/>
              </a:ext>
            </a:extLst>
          </p:cNvPr>
          <p:cNvGrpSpPr/>
          <p:nvPr userDrawn="1"/>
        </p:nvGrpSpPr>
        <p:grpSpPr>
          <a:xfrm>
            <a:off x="7418768" y="6522814"/>
            <a:ext cx="1725232" cy="335186"/>
            <a:chOff x="7418768" y="6522818"/>
            <a:chExt cx="1725232" cy="335186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36587F9-4489-4F31-A201-9E603A9EFA33}"/>
                </a:ext>
              </a:extLst>
            </p:cNvPr>
            <p:cNvSpPr/>
            <p:nvPr userDrawn="1"/>
          </p:nvSpPr>
          <p:spPr>
            <a:xfrm>
              <a:off x="7418768" y="6541203"/>
              <a:ext cx="1331366" cy="29841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0" rtlCol="0" anchor="ctr"/>
            <a:lstStyle/>
            <a:p>
              <a:pPr marL="0" marR="0" indent="0" algn="r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b="1" i="0" dirty="0" err="1">
                  <a:solidFill>
                    <a:srgbClr val="0070C0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teguh</a:t>
              </a:r>
              <a:r>
                <a:rPr lang="id-ID" sz="1200" b="1" i="0" dirty="0">
                  <a:solidFill>
                    <a:srgbClr val="FF0000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pribadi</a:t>
              </a:r>
              <a:r>
                <a:rPr lang="id-ID" sz="1200" b="1" i="0" dirty="0">
                  <a:solidFill>
                    <a:srgbClr val="002060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.com</a:t>
              </a:r>
              <a:endParaRPr lang="en-US" sz="1200" b="1" i="0" dirty="0">
                <a:solidFill>
                  <a:srgbClr val="002060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7D842AC-AEF0-446E-9DFB-E136E63032D2}"/>
                </a:ext>
              </a:extLst>
            </p:cNvPr>
            <p:cNvSpPr/>
            <p:nvPr userDrawn="1"/>
          </p:nvSpPr>
          <p:spPr>
            <a:xfrm>
              <a:off x="8667768" y="6522818"/>
              <a:ext cx="476232" cy="33518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indent="0" algn="l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id-ID" sz="1600" b="1" i="0" dirty="0">
                  <a:solidFill>
                    <a:srgbClr val="0070C0"/>
                  </a:solidFill>
                  <a:latin typeface="Rockwell" panose="02060603020205020403" pitchFamily="18" charset="0"/>
                  <a:cs typeface="Segoe UI Semilight" panose="020B0402040204020203" pitchFamily="34" charset="0"/>
                </a:rPr>
                <a:t>T</a:t>
              </a:r>
              <a:r>
                <a:rPr lang="id-ID" sz="1600" b="1" i="0" dirty="0">
                  <a:solidFill>
                    <a:srgbClr val="FF0000"/>
                  </a:solidFill>
                  <a:latin typeface="Rockwell" panose="02060603020205020403" pitchFamily="18" charset="0"/>
                  <a:cs typeface="Segoe UI Semilight" panose="020B0402040204020203" pitchFamily="34" charset="0"/>
                </a:rPr>
                <a:t>P</a:t>
              </a:r>
              <a:endParaRPr lang="en-US" sz="1600" b="1" i="0" dirty="0">
                <a:solidFill>
                  <a:srgbClr val="FF0000"/>
                </a:solidFill>
                <a:latin typeface="Rockwell" panose="02060603020205020403" pitchFamily="18" charset="0"/>
                <a:cs typeface="Segoe UI Semilight" panose="020B0402040204020203" pitchFamily="34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76251" y="116943"/>
            <a:ext cx="8319407" cy="1325563"/>
          </a:xfrm>
        </p:spPr>
        <p:txBody>
          <a:bodyPr/>
          <a:lstStyle>
            <a:lvl1pPr>
              <a:defRPr>
                <a:latin typeface="Agency FB" panose="020B0503020202020204" pitchFamily="34" charset="0"/>
              </a:defRPr>
            </a:lvl1pPr>
          </a:lstStyle>
          <a:p>
            <a:r>
              <a:rPr lang="en-US" dirty="0"/>
              <a:t>Bab L1/ L2 /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76251" y="1658982"/>
            <a:ext cx="8319406" cy="4859675"/>
          </a:xfrm>
        </p:spPr>
        <p:txBody>
          <a:bodyPr/>
          <a:lstStyle>
            <a:lvl1pPr marL="457178" indent="-457178">
              <a:buFont typeface="Wingdings" panose="05000000000000000000" pitchFamily="2" charset="2"/>
              <a:buChar char="q"/>
              <a:defRPr/>
            </a:lvl1pPr>
            <a:lvl2pPr marL="685766" indent="-228589">
              <a:buFont typeface="Wingdings" panose="05000000000000000000" pitchFamily="2" charset="2"/>
              <a:buChar char="q"/>
              <a:defRPr/>
            </a:lvl2pPr>
            <a:lvl3pPr marL="1142942" indent="-228589">
              <a:buFont typeface="Wingdings" panose="05000000000000000000" pitchFamily="2" charset="2"/>
              <a:buChar char="q"/>
              <a:defRPr/>
            </a:lvl3pPr>
            <a:lvl4pPr marL="1600120" indent="-228589">
              <a:buFont typeface="Wingdings" panose="05000000000000000000" pitchFamily="2" charset="2"/>
              <a:buChar char="q"/>
              <a:defRPr/>
            </a:lvl4pPr>
            <a:lvl5pPr marL="2057298" indent="-228589">
              <a:buFont typeface="Wingdings" panose="05000000000000000000" pitchFamily="2" charset="2"/>
              <a:buChar char="q"/>
              <a:defRPr/>
            </a:lvl5pPr>
          </a:lstStyle>
          <a:p>
            <a:pPr lvl="0"/>
            <a:r>
              <a:rPr lang="en-US" dirty="0" err="1"/>
              <a:t>Teks</a:t>
            </a:r>
            <a:endParaRPr lang="en-US" dirty="0"/>
          </a:p>
        </p:txBody>
      </p:sp>
      <p:sp>
        <p:nvSpPr>
          <p:cNvPr id="4" name="Rectangle 3"/>
          <p:cNvSpPr/>
          <p:nvPr userDrawn="1"/>
        </p:nvSpPr>
        <p:spPr>
          <a:xfrm>
            <a:off x="115910" y="116943"/>
            <a:ext cx="309707" cy="1325563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523696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id-ID"/>
              <a:t>2017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ECABF6-CC33-4333-ADC2-3645AF3870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037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/>
          <p:cNvSpPr>
            <a:spLocks noGrp="1"/>
          </p:cNvSpPr>
          <p:nvPr>
            <p:ph type="subTitle" idx="1"/>
          </p:nvPr>
        </p:nvSpPr>
        <p:spPr>
          <a:xfrm>
            <a:off x="628650" y="4450177"/>
            <a:ext cx="7886700" cy="1655762"/>
          </a:xfrm>
        </p:spPr>
        <p:txBody>
          <a:bodyPr/>
          <a:lstStyle/>
          <a:p>
            <a:pPr>
              <a:lnSpc>
                <a:spcPct val="80000"/>
              </a:lnSpc>
              <a:spcBef>
                <a:spcPts val="0"/>
              </a:spcBef>
            </a:pPr>
            <a:r>
              <a:rPr lang="en-US" sz="3200" dirty="0" err="1"/>
              <a:t>Teguh</a:t>
            </a:r>
            <a:r>
              <a:rPr lang="en-US" sz="3200" dirty="0"/>
              <a:t> </a:t>
            </a:r>
            <a:r>
              <a:rPr lang="en-US" sz="3200" dirty="0" err="1"/>
              <a:t>Pribadi</a:t>
            </a:r>
            <a:endParaRPr lang="en-US" sz="3200" dirty="0"/>
          </a:p>
          <a:p>
            <a:pPr>
              <a:lnSpc>
                <a:spcPct val="80000"/>
              </a:lnSpc>
              <a:spcBef>
                <a:spcPts val="0"/>
              </a:spcBef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http://www.teguhpribadi</a:t>
            </a:r>
            <a:r>
              <a:rPr lang="id-ID" dirty="0">
                <a:solidFill>
                  <a:schemeClr val="bg1">
                    <a:lumMod val="65000"/>
                  </a:schemeClr>
                </a:solidFill>
              </a:rPr>
              <a:t>.com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  <a:p>
            <a:pPr>
              <a:lnSpc>
                <a:spcPct val="80000"/>
              </a:lnSpc>
              <a:spcBef>
                <a:spcPts val="0"/>
              </a:spcBef>
            </a:pPr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wa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/telegram 0857 3600 3963 || </a:t>
            </a:r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wa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/call 082 337 475 885</a:t>
            </a:r>
          </a:p>
          <a:p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8900" y="2062163"/>
            <a:ext cx="8966200" cy="1396785"/>
          </a:xfrm>
        </p:spPr>
        <p:txBody>
          <a:bodyPr>
            <a:normAutofit/>
          </a:bodyPr>
          <a:lstStyle/>
          <a:p>
            <a:r>
              <a:rPr lang="en-US" sz="43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PEMROGRAMAN BERORIENTASI OBJEK</a:t>
            </a:r>
            <a:br>
              <a:rPr lang="en-US" sz="5900" dirty="0">
                <a:solidFill>
                  <a:prstClr val="black"/>
                </a:solidFill>
              </a:rPr>
            </a:br>
            <a:r>
              <a:rPr lang="id-ID" sz="3600" dirty="0">
                <a:solidFill>
                  <a:srgbClr val="0070C0"/>
                </a:solidFill>
              </a:rPr>
              <a:t>0</a:t>
            </a:r>
            <a:r>
              <a:rPr lang="en-US" sz="3600" dirty="0">
                <a:solidFill>
                  <a:srgbClr val="0070C0"/>
                </a:solidFill>
              </a:rPr>
              <a:t>1</a:t>
            </a:r>
            <a:r>
              <a:rPr lang="id-ID" sz="3600" dirty="0">
                <a:solidFill>
                  <a:srgbClr val="0070C0"/>
                </a:solidFill>
              </a:rPr>
              <a:t>. </a:t>
            </a:r>
            <a:r>
              <a:rPr lang="en-US" sz="3500" dirty="0" err="1">
                <a:solidFill>
                  <a:srgbClr val="0070C0"/>
                </a:solidFill>
              </a:rPr>
              <a:t>Pengantar</a:t>
            </a:r>
            <a:r>
              <a:rPr lang="en-US" sz="3500" dirty="0">
                <a:solidFill>
                  <a:srgbClr val="0070C0"/>
                </a:solidFill>
              </a:rPr>
              <a:t> PBO</a:t>
            </a:r>
            <a:endParaRPr 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70538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b="1" dirty="0"/>
              <a:t>01. Pengantar PBO</a:t>
            </a:r>
            <a:endParaRPr lang="en-US" b="1" dirty="0">
              <a:latin typeface="Agency FB" panose="020B0503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63550" indent="-463550">
              <a:buFont typeface="+mj-lt"/>
              <a:buAutoNum type="arabicParenR"/>
            </a:pPr>
            <a:r>
              <a:rPr lang="id-ID" dirty="0">
                <a:latin typeface="Agency FB" panose="020B0503020202020204" pitchFamily="34" charset="0"/>
              </a:rPr>
              <a:t>Pengenalan</a:t>
            </a:r>
          </a:p>
          <a:p>
            <a:pPr marL="463550" indent="-463550">
              <a:buFont typeface="+mj-lt"/>
              <a:buAutoNum type="arabicParenR"/>
            </a:pPr>
            <a:r>
              <a:rPr lang="id-ID" dirty="0">
                <a:latin typeface="Agency FB" panose="020B0503020202020204" pitchFamily="34" charset="0"/>
              </a:rPr>
              <a:t>Prosedural - OOP</a:t>
            </a:r>
            <a:endParaRPr lang="en-US" dirty="0"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7813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1. Pengenalan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084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Dibuat satu per satu kah?</a:t>
            </a:r>
          </a:p>
        </p:txBody>
      </p:sp>
      <p:pic>
        <p:nvPicPr>
          <p:cNvPr id="1026" name="Picture 2" descr="Related image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375"/>
          <a:stretch/>
        </p:blipFill>
        <p:spPr bwMode="auto">
          <a:xfrm>
            <a:off x="0" y="1306287"/>
            <a:ext cx="9144000" cy="5246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1995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Jawabannya pasti, </a:t>
            </a:r>
            <a:r>
              <a:rPr lang="id-ID" b="1" dirty="0"/>
              <a:t>TIDAK</a:t>
            </a:r>
            <a:r>
              <a:rPr lang="id-ID" dirty="0"/>
              <a:t>.</a:t>
            </a:r>
          </a:p>
        </p:txBody>
      </p:sp>
      <p:pic>
        <p:nvPicPr>
          <p:cNvPr id="2050" name="Picture 2" descr="Related 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571" y="1837844"/>
            <a:ext cx="6970341" cy="4680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1760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Dalam ukuran yang sama menggunakan </a:t>
            </a:r>
            <a:r>
              <a:rPr lang="id-ID" dirty="0">
                <a:solidFill>
                  <a:srgbClr val="FF0000"/>
                </a:solidFill>
              </a:rPr>
              <a:t>cetakan</a:t>
            </a:r>
            <a:r>
              <a:rPr lang="id-ID" dirty="0"/>
              <a:t>.</a:t>
            </a:r>
          </a:p>
        </p:txBody>
      </p:sp>
      <p:pic>
        <p:nvPicPr>
          <p:cNvPr id="3074" name="Picture 2" descr="http://desajati.besaba.com/wp-content/uploads/2014/10/Produksi17011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571" y="1866541"/>
            <a:ext cx="6970341" cy="4652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3431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2. Prosedural - OOP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1587094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b="1" dirty="0"/>
              <a:t>Konsep </a:t>
            </a:r>
            <a:r>
              <a:rPr lang="id-ID" dirty="0"/>
              <a:t>Procedural – 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09156"/>
            <a:ext cx="4572000" cy="51329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2800" b="1" dirty="0">
                <a:solidFill>
                  <a:schemeClr val="tx1"/>
                </a:solidFill>
              </a:rPr>
              <a:t>PROCEDURAL</a:t>
            </a:r>
          </a:p>
        </p:txBody>
      </p:sp>
      <p:sp>
        <p:nvSpPr>
          <p:cNvPr id="7" name="Rectangle 6"/>
          <p:cNvSpPr/>
          <p:nvPr/>
        </p:nvSpPr>
        <p:spPr>
          <a:xfrm>
            <a:off x="4565561" y="1309156"/>
            <a:ext cx="4572000" cy="51329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2800" b="1" dirty="0">
                <a:solidFill>
                  <a:schemeClr val="tx1"/>
                </a:solidFill>
              </a:rPr>
              <a:t>OOP</a:t>
            </a: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4562474" y="1831975"/>
            <a:ext cx="4581525" cy="503555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457178" indent="-45717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q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q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q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dirty="0">
                <a:solidFill>
                  <a:prstClr val="black"/>
                </a:solidFill>
              </a:rPr>
              <a:t>Inti </a:t>
            </a:r>
            <a:r>
              <a:rPr lang="en-US" dirty="0" err="1">
                <a:solidFill>
                  <a:prstClr val="black"/>
                </a:solidFill>
              </a:rPr>
              <a:t>dibuatnya</a:t>
            </a:r>
            <a:r>
              <a:rPr lang="en-US" dirty="0">
                <a:solidFill>
                  <a:prstClr val="black"/>
                </a:solidFill>
              </a:rPr>
              <a:t> program </a:t>
            </a:r>
            <a:r>
              <a:rPr lang="en-US" dirty="0" err="1">
                <a:solidFill>
                  <a:prstClr val="black"/>
                </a:solidFill>
              </a:rPr>
              <a:t>karena</a:t>
            </a: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dirty="0" err="1">
                <a:solidFill>
                  <a:prstClr val="black"/>
                </a:solidFill>
              </a:rPr>
              <a:t>pemecahan</a:t>
            </a: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dirty="0" err="1">
                <a:solidFill>
                  <a:prstClr val="black"/>
                </a:solidFill>
              </a:rPr>
              <a:t>masalah</a:t>
            </a:r>
            <a:r>
              <a:rPr lang="en-US" dirty="0">
                <a:solidFill>
                  <a:prstClr val="black"/>
                </a:solidFill>
              </a:rPr>
              <a:t>.</a:t>
            </a:r>
          </a:p>
          <a:p>
            <a:pPr lvl="0"/>
            <a:r>
              <a:rPr lang="en-US" dirty="0">
                <a:solidFill>
                  <a:prstClr val="black"/>
                </a:solidFill>
              </a:rPr>
              <a:t>OOP </a:t>
            </a:r>
            <a:r>
              <a:rPr lang="en-US" dirty="0" err="1">
                <a:solidFill>
                  <a:prstClr val="black"/>
                </a:solidFill>
              </a:rPr>
              <a:t>merupakan</a:t>
            </a:r>
            <a:r>
              <a:rPr lang="en-US" dirty="0"/>
              <a:t> </a:t>
            </a:r>
            <a:r>
              <a:rPr lang="en-US" dirty="0" err="1"/>
              <a:t>salah</a:t>
            </a:r>
            <a:r>
              <a:rPr lang="en-US" dirty="0"/>
              <a:t> </a:t>
            </a:r>
            <a:r>
              <a:rPr lang="en-US" dirty="0" err="1"/>
              <a:t>satu</a:t>
            </a:r>
            <a:r>
              <a:rPr lang="en-US" dirty="0"/>
              <a:t> model </a:t>
            </a:r>
            <a:r>
              <a:rPr lang="en-US" dirty="0" err="1"/>
              <a:t>pemecahan</a:t>
            </a:r>
            <a:r>
              <a:rPr lang="en-US" dirty="0"/>
              <a:t> </a:t>
            </a:r>
            <a:r>
              <a:rPr lang="en-US" dirty="0" err="1"/>
              <a:t>masalah</a:t>
            </a:r>
            <a:r>
              <a:rPr lang="en-US" dirty="0"/>
              <a:t>.</a:t>
            </a:r>
          </a:p>
          <a:p>
            <a:pPr lvl="0"/>
            <a:r>
              <a:rPr lang="en-US" dirty="0">
                <a:solidFill>
                  <a:prstClr val="black"/>
                </a:solidFill>
              </a:rPr>
              <a:t>OOP </a:t>
            </a:r>
            <a:r>
              <a:rPr lang="en-US" dirty="0" err="1">
                <a:solidFill>
                  <a:prstClr val="black"/>
                </a:solidFill>
              </a:rPr>
              <a:t>menggunakan</a:t>
            </a: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dirty="0" err="1">
                <a:solidFill>
                  <a:prstClr val="black"/>
                </a:solidFill>
              </a:rPr>
              <a:t>pendekatan</a:t>
            </a: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objek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prstClr val="black"/>
                </a:solidFill>
              </a:rPr>
              <a:t>dalam</a:t>
            </a: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dirty="0" err="1"/>
              <a:t>pemecahan</a:t>
            </a:r>
            <a:r>
              <a:rPr lang="en-US" dirty="0"/>
              <a:t> </a:t>
            </a:r>
            <a:r>
              <a:rPr lang="en-US" dirty="0" err="1"/>
              <a:t>masalah</a:t>
            </a:r>
            <a:r>
              <a:rPr lang="id-ID" dirty="0"/>
              <a:t> </a:t>
            </a:r>
            <a:r>
              <a:rPr lang="id-ID" dirty="0">
                <a:solidFill>
                  <a:prstClr val="black"/>
                </a:solidFill>
              </a:rPr>
              <a:t>dan </a:t>
            </a:r>
            <a:r>
              <a:rPr lang="id-ID" dirty="0">
                <a:solidFill>
                  <a:srgbClr val="FF0000"/>
                </a:solidFill>
              </a:rPr>
              <a:t>mampu digunakan dikonsep sejenis</a:t>
            </a:r>
            <a:r>
              <a:rPr lang="en-US" dirty="0">
                <a:solidFill>
                  <a:prstClr val="black"/>
                </a:solidFill>
              </a:rPr>
              <a:t>.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id-ID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-9525" y="1831975"/>
            <a:ext cx="4581525" cy="503555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457178" indent="-45717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q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q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q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dirty="0">
                <a:solidFill>
                  <a:prstClr val="black"/>
                </a:solidFill>
              </a:rPr>
              <a:t>Inti </a:t>
            </a:r>
            <a:r>
              <a:rPr lang="en-US" dirty="0" err="1">
                <a:solidFill>
                  <a:prstClr val="black"/>
                </a:solidFill>
              </a:rPr>
              <a:t>dibuatnya</a:t>
            </a:r>
            <a:r>
              <a:rPr lang="en-US" dirty="0">
                <a:solidFill>
                  <a:prstClr val="black"/>
                </a:solidFill>
              </a:rPr>
              <a:t> program </a:t>
            </a:r>
            <a:r>
              <a:rPr lang="en-US" dirty="0" err="1">
                <a:solidFill>
                  <a:prstClr val="black"/>
                </a:solidFill>
              </a:rPr>
              <a:t>karena</a:t>
            </a: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dirty="0" err="1">
                <a:solidFill>
                  <a:prstClr val="black"/>
                </a:solidFill>
              </a:rPr>
              <a:t>pemecahan</a:t>
            </a: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dirty="0" err="1">
                <a:solidFill>
                  <a:prstClr val="black"/>
                </a:solidFill>
              </a:rPr>
              <a:t>masalah</a:t>
            </a:r>
            <a:r>
              <a:rPr lang="en-US" dirty="0">
                <a:solidFill>
                  <a:prstClr val="black"/>
                </a:solidFill>
              </a:rPr>
              <a:t>.</a:t>
            </a:r>
          </a:p>
          <a:p>
            <a:pPr lvl="0"/>
            <a:r>
              <a:rPr lang="en-US" dirty="0">
                <a:solidFill>
                  <a:prstClr val="black"/>
                </a:solidFill>
              </a:rPr>
              <a:t>Procedural </a:t>
            </a:r>
            <a:r>
              <a:rPr lang="en-US" dirty="0" err="1">
                <a:solidFill>
                  <a:prstClr val="black"/>
                </a:solidFill>
              </a:rPr>
              <a:t>merupakan</a:t>
            </a: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dirty="0" err="1"/>
              <a:t>salah</a:t>
            </a:r>
            <a:r>
              <a:rPr lang="en-US" dirty="0"/>
              <a:t> </a:t>
            </a:r>
            <a:r>
              <a:rPr lang="en-US" dirty="0" err="1"/>
              <a:t>satu</a:t>
            </a:r>
            <a:r>
              <a:rPr lang="en-US" dirty="0"/>
              <a:t> model </a:t>
            </a:r>
            <a:r>
              <a:rPr lang="en-US" dirty="0" err="1"/>
              <a:t>pemecahan</a:t>
            </a:r>
            <a:r>
              <a:rPr lang="en-US" dirty="0"/>
              <a:t> </a:t>
            </a:r>
            <a:r>
              <a:rPr lang="en-US" dirty="0" err="1"/>
              <a:t>masalah</a:t>
            </a:r>
            <a:r>
              <a:rPr lang="en-US" dirty="0">
                <a:solidFill>
                  <a:prstClr val="black"/>
                </a:solidFill>
              </a:rPr>
              <a:t>.</a:t>
            </a:r>
          </a:p>
          <a:p>
            <a:pPr lvl="0"/>
            <a:r>
              <a:rPr lang="en-US" dirty="0">
                <a:solidFill>
                  <a:prstClr val="black"/>
                </a:solidFill>
              </a:rPr>
              <a:t>Procedural </a:t>
            </a:r>
            <a:r>
              <a:rPr lang="en-US" dirty="0" err="1">
                <a:solidFill>
                  <a:prstClr val="black"/>
                </a:solidFill>
              </a:rPr>
              <a:t>menggunakan</a:t>
            </a: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dirty="0" err="1">
                <a:solidFill>
                  <a:prstClr val="black"/>
                </a:solidFill>
              </a:rPr>
              <a:t>cara</a:t>
            </a:r>
            <a:r>
              <a:rPr lang="en-US" dirty="0">
                <a:solidFill>
                  <a:prstClr val="black"/>
                </a:solidFill>
              </a:rPr>
              <a:t> yang </a:t>
            </a:r>
            <a:r>
              <a:rPr lang="en-US" dirty="0" err="1">
                <a:solidFill>
                  <a:srgbClr val="FF0000"/>
                </a:solidFill>
              </a:rPr>
              <a:t>algoritmik</a:t>
            </a: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dirty="0" err="1">
                <a:solidFill>
                  <a:prstClr val="black"/>
                </a:solidFill>
              </a:rPr>
              <a:t>dalam</a:t>
            </a: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dirty="0" err="1"/>
              <a:t>pemecahan</a:t>
            </a:r>
            <a:r>
              <a:rPr lang="en-US" dirty="0"/>
              <a:t> </a:t>
            </a:r>
            <a:r>
              <a:rPr lang="id-ID" dirty="0">
                <a:solidFill>
                  <a:srgbClr val="FF0000"/>
                </a:solidFill>
              </a:rPr>
              <a:t>sebuah </a:t>
            </a:r>
            <a:r>
              <a:rPr lang="en-US" dirty="0"/>
              <a:t>masala</a:t>
            </a:r>
            <a:r>
              <a:rPr lang="id-ID" dirty="0"/>
              <a:t>h</a:t>
            </a:r>
            <a:r>
              <a:rPr lang="en-US" dirty="0">
                <a:solidFill>
                  <a:prstClr val="black"/>
                </a:solidFill>
              </a:rPr>
              <a:t>.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4562474" y="1309156"/>
            <a:ext cx="0" cy="554884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1098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b="1" dirty="0"/>
              <a:t>Analogi</a:t>
            </a:r>
            <a:r>
              <a:rPr lang="id-ID" dirty="0"/>
              <a:t> Procedural – 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09156"/>
            <a:ext cx="4572000" cy="51329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2800" b="1" dirty="0">
                <a:solidFill>
                  <a:schemeClr val="tx1"/>
                </a:solidFill>
              </a:rPr>
              <a:t>PROCEDURAL</a:t>
            </a:r>
          </a:p>
        </p:txBody>
      </p:sp>
      <p:sp>
        <p:nvSpPr>
          <p:cNvPr id="7" name="Rectangle 6"/>
          <p:cNvSpPr/>
          <p:nvPr/>
        </p:nvSpPr>
        <p:spPr>
          <a:xfrm>
            <a:off x="4565561" y="1309156"/>
            <a:ext cx="4572000" cy="51329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2800" b="1" dirty="0">
                <a:solidFill>
                  <a:schemeClr val="tx1"/>
                </a:solidFill>
              </a:rPr>
              <a:t>OOP</a:t>
            </a: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4562474" y="1831975"/>
            <a:ext cx="4581525" cy="503555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457178" indent="-45717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q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q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q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id-ID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-9525" y="1831975"/>
            <a:ext cx="4581525" cy="503555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457178" indent="-45717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q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q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q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</a:pP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3032" y="1973991"/>
            <a:ext cx="1345527" cy="2081343"/>
          </a:xfrm>
          <a:prstGeom prst="rect">
            <a:avLst/>
          </a:prstGeom>
          <a:ln w="571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 err="1"/>
              <a:t>Mobil_Ku</a:t>
            </a:r>
            <a:endParaRPr lang="en-US" sz="1400" b="1" dirty="0"/>
          </a:p>
          <a:p>
            <a:pPr marL="342900" indent="-342900">
              <a:buAutoNum type="arabicPeriod"/>
            </a:pPr>
            <a:r>
              <a:rPr lang="en-US" sz="1400" dirty="0" err="1"/>
              <a:t>Kerangka</a:t>
            </a:r>
            <a:endParaRPr lang="en-US" sz="1400" dirty="0"/>
          </a:p>
          <a:p>
            <a:pPr marL="342900" indent="-342900">
              <a:buAutoNum type="arabicPeriod"/>
            </a:pPr>
            <a:r>
              <a:rPr lang="en-US" sz="1400" dirty="0"/>
              <a:t>Body</a:t>
            </a:r>
          </a:p>
          <a:p>
            <a:pPr marL="342900" indent="-342900">
              <a:buAutoNum type="arabicPeriod"/>
            </a:pPr>
            <a:r>
              <a:rPr lang="en-US" sz="1400" dirty="0" err="1"/>
              <a:t>Mesin</a:t>
            </a:r>
            <a:endParaRPr lang="en-US" sz="1400" dirty="0"/>
          </a:p>
          <a:p>
            <a:pPr marL="342900" indent="-342900">
              <a:buAutoNum type="arabicPeriod"/>
            </a:pPr>
            <a:r>
              <a:rPr lang="en-US" sz="1400" dirty="0" err="1"/>
              <a:t>Roda</a:t>
            </a:r>
            <a:endParaRPr lang="en-US" sz="1400" dirty="0"/>
          </a:p>
          <a:p>
            <a:pPr marL="342900" indent="-342900">
              <a:buAutoNum type="arabicPeriod"/>
            </a:pPr>
            <a:r>
              <a:rPr lang="en-US" sz="1400" dirty="0" err="1"/>
              <a:t>Jok</a:t>
            </a:r>
            <a:endParaRPr lang="en-US" sz="1400" dirty="0"/>
          </a:p>
          <a:p>
            <a:pPr marL="342900" indent="-342900">
              <a:buAutoNum type="arabicPeriod"/>
            </a:pPr>
            <a:r>
              <a:rPr lang="en-US" sz="1400" dirty="0" err="1"/>
              <a:t>Merk</a:t>
            </a:r>
            <a:endParaRPr lang="en-US" sz="1400" dirty="0"/>
          </a:p>
        </p:txBody>
      </p:sp>
      <p:sp>
        <p:nvSpPr>
          <p:cNvPr id="11" name="Rectangle 10"/>
          <p:cNvSpPr/>
          <p:nvPr/>
        </p:nvSpPr>
        <p:spPr>
          <a:xfrm>
            <a:off x="1566163" y="1973991"/>
            <a:ext cx="1345527" cy="2081343"/>
          </a:xfrm>
          <a:prstGeom prst="rect">
            <a:avLst/>
          </a:prstGeom>
          <a:ln w="571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 err="1"/>
              <a:t>Mobil_Esti</a:t>
            </a:r>
            <a:endParaRPr lang="en-US" sz="1400" b="1" dirty="0"/>
          </a:p>
          <a:p>
            <a:pPr marL="342900" indent="-342900">
              <a:buAutoNum type="arabicPeriod"/>
            </a:pPr>
            <a:r>
              <a:rPr lang="en-US" sz="1400" dirty="0" err="1"/>
              <a:t>Kerangka</a:t>
            </a:r>
            <a:endParaRPr lang="en-US" sz="1400" dirty="0"/>
          </a:p>
          <a:p>
            <a:pPr marL="342900" indent="-342900">
              <a:buAutoNum type="arabicPeriod"/>
            </a:pPr>
            <a:r>
              <a:rPr lang="en-US" sz="1400" dirty="0"/>
              <a:t>Body</a:t>
            </a:r>
          </a:p>
          <a:p>
            <a:pPr marL="342900" indent="-342900">
              <a:buAutoNum type="arabicPeriod"/>
            </a:pPr>
            <a:r>
              <a:rPr lang="en-US" sz="1400" dirty="0" err="1"/>
              <a:t>Mesin</a:t>
            </a:r>
            <a:endParaRPr lang="en-US" sz="1400" dirty="0"/>
          </a:p>
          <a:p>
            <a:pPr marL="342900" indent="-342900">
              <a:buAutoNum type="arabicPeriod"/>
            </a:pPr>
            <a:r>
              <a:rPr lang="en-US" sz="1400" dirty="0" err="1"/>
              <a:t>Roda</a:t>
            </a:r>
            <a:endParaRPr lang="en-US" sz="1400" dirty="0"/>
          </a:p>
          <a:p>
            <a:pPr marL="342900" indent="-342900">
              <a:buAutoNum type="arabicPeriod"/>
            </a:pPr>
            <a:r>
              <a:rPr lang="en-US" sz="1400" dirty="0" err="1"/>
              <a:t>Jok</a:t>
            </a:r>
            <a:endParaRPr lang="en-US" sz="1400" dirty="0"/>
          </a:p>
          <a:p>
            <a:pPr marL="342900" indent="-342900">
              <a:buAutoNum type="arabicPeriod"/>
            </a:pPr>
            <a:r>
              <a:rPr lang="en-US" sz="1400" dirty="0" err="1"/>
              <a:t>Merk</a:t>
            </a:r>
            <a:endParaRPr lang="en-US" sz="1400" dirty="0"/>
          </a:p>
        </p:txBody>
      </p:sp>
      <p:sp>
        <p:nvSpPr>
          <p:cNvPr id="12" name="Rectangle 11"/>
          <p:cNvSpPr/>
          <p:nvPr/>
        </p:nvSpPr>
        <p:spPr>
          <a:xfrm>
            <a:off x="3061795" y="1973990"/>
            <a:ext cx="1345527" cy="2081343"/>
          </a:xfrm>
          <a:prstGeom prst="rect">
            <a:avLst/>
          </a:prstGeom>
          <a:ln w="571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 err="1"/>
              <a:t>Mobil_Messi</a:t>
            </a:r>
            <a:endParaRPr lang="en-US" sz="1400" b="1" dirty="0"/>
          </a:p>
          <a:p>
            <a:pPr marL="342900" indent="-342900">
              <a:buAutoNum type="arabicPeriod"/>
            </a:pPr>
            <a:r>
              <a:rPr lang="en-US" sz="1400" dirty="0" err="1"/>
              <a:t>Kerangka</a:t>
            </a:r>
            <a:endParaRPr lang="en-US" sz="1400" dirty="0"/>
          </a:p>
          <a:p>
            <a:pPr marL="342900" indent="-342900">
              <a:buAutoNum type="arabicPeriod"/>
            </a:pPr>
            <a:r>
              <a:rPr lang="en-US" sz="1400" dirty="0"/>
              <a:t>Body</a:t>
            </a:r>
          </a:p>
          <a:p>
            <a:pPr marL="342900" indent="-342900">
              <a:buAutoNum type="arabicPeriod"/>
            </a:pPr>
            <a:r>
              <a:rPr lang="en-US" sz="1400" dirty="0" err="1"/>
              <a:t>Mesin</a:t>
            </a:r>
            <a:endParaRPr lang="en-US" sz="1400" dirty="0"/>
          </a:p>
          <a:p>
            <a:pPr marL="342900" indent="-342900">
              <a:buAutoNum type="arabicPeriod"/>
            </a:pPr>
            <a:r>
              <a:rPr lang="en-US" sz="1400" dirty="0" err="1"/>
              <a:t>Roda</a:t>
            </a:r>
            <a:endParaRPr lang="en-US" sz="1400" dirty="0"/>
          </a:p>
          <a:p>
            <a:pPr marL="342900" indent="-342900">
              <a:buAutoNum type="arabicPeriod"/>
            </a:pPr>
            <a:r>
              <a:rPr lang="en-US" sz="1400" dirty="0" err="1"/>
              <a:t>Jok</a:t>
            </a:r>
            <a:endParaRPr lang="en-US" sz="1400" dirty="0"/>
          </a:p>
          <a:p>
            <a:pPr marL="342900" indent="-342900">
              <a:buAutoNum type="arabicPeriod"/>
            </a:pPr>
            <a:r>
              <a:rPr lang="en-US" sz="1400" dirty="0" err="1"/>
              <a:t>Merk</a:t>
            </a:r>
            <a:endParaRPr lang="en-US" sz="1400" dirty="0"/>
          </a:p>
        </p:txBody>
      </p:sp>
      <p:sp>
        <p:nvSpPr>
          <p:cNvPr id="13" name="Rectangle 12"/>
          <p:cNvSpPr/>
          <p:nvPr/>
        </p:nvSpPr>
        <p:spPr>
          <a:xfrm>
            <a:off x="103032" y="4271810"/>
            <a:ext cx="1345527" cy="1786115"/>
          </a:xfrm>
          <a:prstGeom prst="rect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 err="1"/>
              <a:t>Mobil_Ku</a:t>
            </a:r>
            <a:endParaRPr lang="en-US" sz="1400" b="1" dirty="0"/>
          </a:p>
          <a:p>
            <a:pPr marL="342900" indent="-342900">
              <a:buAutoNum type="arabicPeriod"/>
            </a:pPr>
            <a:r>
              <a:rPr lang="en-US" sz="1400" dirty="0" err="1"/>
              <a:t>Maju</a:t>
            </a:r>
            <a:endParaRPr lang="en-US" sz="1400" dirty="0"/>
          </a:p>
          <a:p>
            <a:pPr marL="342900" indent="-342900">
              <a:buAutoNum type="arabicPeriod"/>
            </a:pPr>
            <a:r>
              <a:rPr lang="en-US" sz="1400" dirty="0" err="1"/>
              <a:t>Mundur</a:t>
            </a:r>
            <a:endParaRPr lang="en-US" sz="1400" dirty="0"/>
          </a:p>
          <a:p>
            <a:pPr marL="342900" indent="-342900">
              <a:buAutoNum type="arabicPeriod"/>
            </a:pPr>
            <a:r>
              <a:rPr lang="en-US" sz="1400" dirty="0" err="1"/>
              <a:t>Belok</a:t>
            </a:r>
            <a:endParaRPr lang="en-US" sz="1400" dirty="0"/>
          </a:p>
          <a:p>
            <a:pPr marL="342900" indent="-342900">
              <a:buAutoNum type="arabicPeriod"/>
            </a:pPr>
            <a:r>
              <a:rPr lang="en-US" sz="1400" dirty="0" err="1"/>
              <a:t>Menanjak</a:t>
            </a:r>
            <a:endParaRPr lang="en-US" sz="1400" dirty="0"/>
          </a:p>
          <a:p>
            <a:pPr marL="342900" indent="-342900">
              <a:buAutoNum type="arabicPeriod"/>
            </a:pPr>
            <a:r>
              <a:rPr lang="en-US" sz="1400" dirty="0" err="1"/>
              <a:t>Menurun</a:t>
            </a:r>
            <a:endParaRPr lang="en-US" sz="1400" dirty="0"/>
          </a:p>
        </p:txBody>
      </p:sp>
      <p:sp>
        <p:nvSpPr>
          <p:cNvPr id="14" name="Rectangle 13"/>
          <p:cNvSpPr/>
          <p:nvPr/>
        </p:nvSpPr>
        <p:spPr>
          <a:xfrm>
            <a:off x="1566163" y="4271810"/>
            <a:ext cx="1345527" cy="1786115"/>
          </a:xfrm>
          <a:prstGeom prst="rect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 err="1"/>
              <a:t>Mobil_Esti</a:t>
            </a:r>
            <a:endParaRPr lang="en-US" sz="1400" b="1" dirty="0"/>
          </a:p>
          <a:p>
            <a:pPr marL="342900" indent="-342900">
              <a:buAutoNum type="arabicPeriod"/>
            </a:pPr>
            <a:r>
              <a:rPr lang="en-US" sz="1400" dirty="0" err="1"/>
              <a:t>Maju</a:t>
            </a:r>
            <a:endParaRPr lang="en-US" sz="1400" dirty="0"/>
          </a:p>
          <a:p>
            <a:pPr marL="342900" indent="-342900">
              <a:buAutoNum type="arabicPeriod"/>
            </a:pPr>
            <a:r>
              <a:rPr lang="en-US" sz="1400" dirty="0" err="1"/>
              <a:t>Mundur</a:t>
            </a:r>
            <a:endParaRPr lang="en-US" sz="1400" dirty="0"/>
          </a:p>
          <a:p>
            <a:pPr marL="342900" indent="-342900">
              <a:buAutoNum type="arabicPeriod"/>
            </a:pPr>
            <a:r>
              <a:rPr lang="en-US" sz="1400" dirty="0" err="1"/>
              <a:t>Belok</a:t>
            </a:r>
            <a:endParaRPr lang="en-US" sz="1400" dirty="0"/>
          </a:p>
          <a:p>
            <a:pPr marL="342900" indent="-342900">
              <a:buAutoNum type="arabicPeriod"/>
            </a:pPr>
            <a:r>
              <a:rPr lang="en-US" sz="1400" dirty="0" err="1"/>
              <a:t>Menanjak</a:t>
            </a:r>
            <a:endParaRPr lang="en-US" sz="1400" dirty="0"/>
          </a:p>
          <a:p>
            <a:pPr marL="342900" indent="-342900">
              <a:buAutoNum type="arabicPeriod"/>
            </a:pPr>
            <a:r>
              <a:rPr lang="en-US" sz="1400" dirty="0" err="1"/>
              <a:t>Menurun</a:t>
            </a:r>
            <a:endParaRPr lang="en-US" sz="1400" dirty="0"/>
          </a:p>
        </p:txBody>
      </p:sp>
      <p:sp>
        <p:nvSpPr>
          <p:cNvPr id="15" name="Rectangle 14"/>
          <p:cNvSpPr/>
          <p:nvPr/>
        </p:nvSpPr>
        <p:spPr>
          <a:xfrm>
            <a:off x="3061795" y="4271810"/>
            <a:ext cx="1345527" cy="1786115"/>
          </a:xfrm>
          <a:prstGeom prst="rect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 err="1"/>
              <a:t>Mobil_Messi</a:t>
            </a:r>
            <a:endParaRPr lang="en-US" sz="1400" b="1" dirty="0"/>
          </a:p>
          <a:p>
            <a:pPr marL="342900" indent="-342900">
              <a:buAutoNum type="arabicPeriod"/>
            </a:pPr>
            <a:r>
              <a:rPr lang="en-US" sz="1400" dirty="0" err="1"/>
              <a:t>Maju</a:t>
            </a:r>
            <a:endParaRPr lang="en-US" sz="1400" dirty="0"/>
          </a:p>
          <a:p>
            <a:pPr marL="342900" indent="-342900">
              <a:buAutoNum type="arabicPeriod"/>
            </a:pPr>
            <a:r>
              <a:rPr lang="en-US" sz="1400" dirty="0" err="1"/>
              <a:t>Mundur</a:t>
            </a:r>
            <a:endParaRPr lang="en-US" sz="1400" dirty="0"/>
          </a:p>
          <a:p>
            <a:pPr marL="342900" indent="-342900">
              <a:buAutoNum type="arabicPeriod"/>
            </a:pPr>
            <a:r>
              <a:rPr lang="en-US" sz="1400" dirty="0" err="1"/>
              <a:t>Belok</a:t>
            </a:r>
            <a:endParaRPr lang="en-US" sz="1400" dirty="0"/>
          </a:p>
          <a:p>
            <a:pPr marL="342900" indent="-342900">
              <a:buAutoNum type="arabicPeriod"/>
            </a:pPr>
            <a:r>
              <a:rPr lang="en-US" sz="1400" dirty="0" err="1"/>
              <a:t>Menanjak</a:t>
            </a:r>
            <a:endParaRPr lang="en-US" sz="1400" dirty="0"/>
          </a:p>
          <a:p>
            <a:pPr marL="342900" indent="-342900">
              <a:buAutoNum type="arabicPeriod"/>
            </a:pPr>
            <a:r>
              <a:rPr lang="en-US" sz="1400" dirty="0" err="1"/>
              <a:t>Menurun</a:t>
            </a:r>
            <a:endParaRPr lang="en-US" sz="1400" dirty="0"/>
          </a:p>
        </p:txBody>
      </p:sp>
      <p:sp>
        <p:nvSpPr>
          <p:cNvPr id="16" name="Rectangle 15"/>
          <p:cNvSpPr/>
          <p:nvPr/>
        </p:nvSpPr>
        <p:spPr>
          <a:xfrm>
            <a:off x="7098281" y="2029403"/>
            <a:ext cx="1757038" cy="2081343"/>
          </a:xfrm>
          <a:prstGeom prst="rect">
            <a:avLst/>
          </a:prstGeom>
          <a:ln w="57150">
            <a:solidFill>
              <a:srgbClr val="0070C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MEMILIKI</a:t>
            </a:r>
          </a:p>
          <a:p>
            <a:pPr marL="342900" indent="-342900">
              <a:buAutoNum type="arabicPeriod"/>
            </a:pPr>
            <a:r>
              <a:rPr lang="en-US" dirty="0" err="1"/>
              <a:t>Kerangka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Body</a:t>
            </a:r>
          </a:p>
          <a:p>
            <a:pPr marL="342900" indent="-342900">
              <a:buAutoNum type="arabicPeriod"/>
            </a:pPr>
            <a:r>
              <a:rPr lang="en-US" dirty="0" err="1"/>
              <a:t>Mesin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dirty="0" err="1"/>
              <a:t>Roda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dirty="0" err="1"/>
              <a:t>Jok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dirty="0" err="1"/>
              <a:t>Merk</a:t>
            </a:r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7111160" y="4327223"/>
            <a:ext cx="1757038" cy="1786115"/>
          </a:xfrm>
          <a:prstGeom prst="rect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BISA</a:t>
            </a:r>
          </a:p>
          <a:p>
            <a:pPr marL="342900" indent="-342900">
              <a:buAutoNum type="arabicPeriod"/>
            </a:pPr>
            <a:r>
              <a:rPr lang="en-US" dirty="0" err="1"/>
              <a:t>Maju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dirty="0" err="1"/>
              <a:t>Mundur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dirty="0" err="1"/>
              <a:t>Belok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dirty="0" err="1"/>
              <a:t>Menanjak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dirty="0" err="1"/>
              <a:t>Menurun</a:t>
            </a:r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4562474" y="1309156"/>
            <a:ext cx="0" cy="554884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6865259" y="1887387"/>
            <a:ext cx="2170704" cy="488813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b="1" dirty="0">
              <a:solidFill>
                <a:schemeClr val="tx1"/>
              </a:solidFill>
            </a:endParaRPr>
          </a:p>
          <a:p>
            <a:pPr algn="ctr"/>
            <a:endParaRPr lang="id-ID" b="1" dirty="0">
              <a:solidFill>
                <a:schemeClr val="tx1"/>
              </a:solidFill>
            </a:endParaRPr>
          </a:p>
          <a:p>
            <a:pPr algn="ctr"/>
            <a:endParaRPr lang="id-ID" b="1" dirty="0">
              <a:solidFill>
                <a:schemeClr val="tx1"/>
              </a:solidFill>
            </a:endParaRPr>
          </a:p>
          <a:p>
            <a:pPr algn="ctr"/>
            <a:endParaRPr lang="id-ID" b="1" dirty="0">
              <a:solidFill>
                <a:schemeClr val="tx1"/>
              </a:solidFill>
            </a:endParaRPr>
          </a:p>
          <a:p>
            <a:pPr algn="ctr"/>
            <a:endParaRPr lang="id-ID" b="1" dirty="0">
              <a:solidFill>
                <a:schemeClr val="tx1"/>
              </a:solidFill>
            </a:endParaRPr>
          </a:p>
          <a:p>
            <a:pPr algn="ctr"/>
            <a:endParaRPr lang="id-ID" b="1" dirty="0">
              <a:solidFill>
                <a:schemeClr val="tx1"/>
              </a:solidFill>
            </a:endParaRPr>
          </a:p>
          <a:p>
            <a:pPr algn="ctr"/>
            <a:endParaRPr lang="id-ID" b="1" dirty="0">
              <a:solidFill>
                <a:schemeClr val="tx1"/>
              </a:solidFill>
            </a:endParaRPr>
          </a:p>
          <a:p>
            <a:pPr algn="ctr"/>
            <a:endParaRPr lang="id-ID" b="1" dirty="0">
              <a:solidFill>
                <a:schemeClr val="tx1"/>
              </a:solidFill>
            </a:endParaRPr>
          </a:p>
          <a:p>
            <a:pPr algn="ctr"/>
            <a:endParaRPr lang="id-ID" b="1" dirty="0">
              <a:solidFill>
                <a:schemeClr val="tx1"/>
              </a:solidFill>
            </a:endParaRPr>
          </a:p>
          <a:p>
            <a:pPr algn="ctr"/>
            <a:endParaRPr lang="id-ID" b="1" dirty="0">
              <a:solidFill>
                <a:schemeClr val="tx1"/>
              </a:solidFill>
            </a:endParaRPr>
          </a:p>
          <a:p>
            <a:pPr algn="ctr"/>
            <a:endParaRPr lang="id-ID" b="1" dirty="0">
              <a:solidFill>
                <a:schemeClr val="tx1"/>
              </a:solidFill>
            </a:endParaRPr>
          </a:p>
          <a:p>
            <a:pPr algn="ctr"/>
            <a:endParaRPr lang="id-ID" b="1" dirty="0">
              <a:solidFill>
                <a:schemeClr val="tx1"/>
              </a:solidFill>
            </a:endParaRPr>
          </a:p>
          <a:p>
            <a:pPr algn="ctr"/>
            <a:endParaRPr lang="id-ID" b="1" dirty="0">
              <a:solidFill>
                <a:schemeClr val="tx1"/>
              </a:solidFill>
            </a:endParaRPr>
          </a:p>
          <a:p>
            <a:pPr algn="ctr"/>
            <a:endParaRPr lang="id-ID" b="1" dirty="0">
              <a:solidFill>
                <a:schemeClr val="tx1"/>
              </a:solidFill>
            </a:endParaRPr>
          </a:p>
          <a:p>
            <a:pPr algn="ctr"/>
            <a:endParaRPr lang="id-ID" sz="2800" b="1" dirty="0">
              <a:solidFill>
                <a:schemeClr val="tx1"/>
              </a:solidFill>
            </a:endParaRPr>
          </a:p>
          <a:p>
            <a:pPr algn="ctr"/>
            <a:r>
              <a:rPr lang="id-ID" sz="2800" b="1" dirty="0">
                <a:solidFill>
                  <a:schemeClr val="tx1"/>
                </a:solidFill>
              </a:rPr>
              <a:t>MOBIL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35665" y="2023877"/>
            <a:ext cx="1485116" cy="393556"/>
          </a:xfrm>
          <a:prstGeom prst="rect">
            <a:avLst/>
          </a:prstGeom>
          <a:ln w="57150">
            <a:solidFill>
              <a:srgbClr val="0070C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err="1"/>
              <a:t>Mobil_Ku</a:t>
            </a:r>
            <a:endParaRPr lang="en-US" b="1" dirty="0"/>
          </a:p>
        </p:txBody>
      </p:sp>
      <p:sp>
        <p:nvSpPr>
          <p:cNvPr id="22" name="Rectangle 21"/>
          <p:cNvSpPr/>
          <p:nvPr/>
        </p:nvSpPr>
        <p:spPr>
          <a:xfrm>
            <a:off x="4841314" y="2579154"/>
            <a:ext cx="1485116" cy="403512"/>
          </a:xfrm>
          <a:prstGeom prst="rect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err="1"/>
              <a:t>Mobil_Ku</a:t>
            </a:r>
            <a:endParaRPr lang="en-US" b="1" dirty="0"/>
          </a:p>
        </p:txBody>
      </p:sp>
      <p:sp>
        <p:nvSpPr>
          <p:cNvPr id="28" name="Rectangle 27"/>
          <p:cNvSpPr/>
          <p:nvPr/>
        </p:nvSpPr>
        <p:spPr>
          <a:xfrm>
            <a:off x="4835665" y="3729845"/>
            <a:ext cx="1485116" cy="393556"/>
          </a:xfrm>
          <a:prstGeom prst="rect">
            <a:avLst/>
          </a:prstGeom>
          <a:ln w="57150">
            <a:solidFill>
              <a:srgbClr val="0070C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Mobil_</a:t>
            </a:r>
            <a:r>
              <a:rPr lang="id-ID" b="1" dirty="0"/>
              <a:t>Esti</a:t>
            </a:r>
            <a:endParaRPr lang="en-US" b="1" dirty="0"/>
          </a:p>
        </p:txBody>
      </p:sp>
      <p:sp>
        <p:nvSpPr>
          <p:cNvPr id="29" name="Rectangle 28"/>
          <p:cNvSpPr/>
          <p:nvPr/>
        </p:nvSpPr>
        <p:spPr>
          <a:xfrm>
            <a:off x="4841314" y="4285122"/>
            <a:ext cx="1485116" cy="403512"/>
          </a:xfrm>
          <a:prstGeom prst="rect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Mobil_</a:t>
            </a:r>
            <a:r>
              <a:rPr lang="id-ID" b="1" dirty="0"/>
              <a:t>Esti</a:t>
            </a:r>
            <a:endParaRPr lang="en-US" b="1" dirty="0"/>
          </a:p>
        </p:txBody>
      </p:sp>
      <p:sp>
        <p:nvSpPr>
          <p:cNvPr id="30" name="Rectangle 29"/>
          <p:cNvSpPr/>
          <p:nvPr/>
        </p:nvSpPr>
        <p:spPr>
          <a:xfrm>
            <a:off x="4835665" y="5300892"/>
            <a:ext cx="1485116" cy="393556"/>
          </a:xfrm>
          <a:prstGeom prst="rect">
            <a:avLst/>
          </a:prstGeom>
          <a:ln w="57150">
            <a:solidFill>
              <a:srgbClr val="0070C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Mobil_</a:t>
            </a:r>
            <a:r>
              <a:rPr lang="id-ID" b="1" dirty="0"/>
              <a:t>Messi</a:t>
            </a:r>
            <a:endParaRPr lang="en-US" b="1" dirty="0"/>
          </a:p>
        </p:txBody>
      </p:sp>
      <p:sp>
        <p:nvSpPr>
          <p:cNvPr id="31" name="Rectangle 30"/>
          <p:cNvSpPr/>
          <p:nvPr/>
        </p:nvSpPr>
        <p:spPr>
          <a:xfrm>
            <a:off x="4841314" y="5856169"/>
            <a:ext cx="1485116" cy="403512"/>
          </a:xfrm>
          <a:prstGeom prst="rect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Mobil_</a:t>
            </a:r>
            <a:r>
              <a:rPr lang="id-ID" b="1" dirty="0"/>
              <a:t>Messi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892035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3" grpId="0" animBg="1"/>
      <p:bldP spid="19" grpId="0" animBg="1"/>
      <p:bldP spid="22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b="1" dirty="0"/>
              <a:t>Script</a:t>
            </a:r>
            <a:r>
              <a:rPr lang="id-ID" dirty="0"/>
              <a:t> Procedural – 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7621" y="1822450"/>
            <a:ext cx="4572000" cy="5035550"/>
          </a:xfrm>
          <a:solidFill>
            <a:schemeClr val="bg1">
              <a:lumMod val="85000"/>
            </a:schemeClr>
          </a:solidFill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id-ID" sz="900" dirty="0">
                <a:latin typeface="Courier New" panose="02070309020205020404" pitchFamily="49" charset="0"/>
                <a:cs typeface="Courier New" panose="02070309020205020404" pitchFamily="49" charset="0"/>
              </a:rPr>
              <a:t>&lt;?php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id-ID" sz="9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//Deklarasi dan Inisialisasi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id-ID" sz="900" dirty="0">
                <a:latin typeface="Courier New" panose="02070309020205020404" pitchFamily="49" charset="0"/>
                <a:cs typeface="Courier New" panose="02070309020205020404" pitchFamily="49" charset="0"/>
              </a:rPr>
              <a:t>$nama = "Hikmawati";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id-ID" sz="900" dirty="0">
                <a:latin typeface="Courier New" panose="02070309020205020404" pitchFamily="49" charset="0"/>
                <a:cs typeface="Courier New" panose="02070309020205020404" pitchFamily="49" charset="0"/>
              </a:rPr>
              <a:t>$nilai = 60;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id-ID" sz="900" dirty="0">
                <a:latin typeface="Courier New" panose="02070309020205020404" pitchFamily="49" charset="0"/>
                <a:cs typeface="Courier New" panose="02070309020205020404" pitchFamily="49" charset="0"/>
              </a:rPr>
              <a:t>$kelas = "AKN Bojonegoro";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id-ID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id-ID" sz="900" dirty="0">
                <a:latin typeface="Courier New" panose="02070309020205020404" pitchFamily="49" charset="0"/>
                <a:cs typeface="Courier New" panose="02070309020205020404" pitchFamily="49" charset="0"/>
              </a:rPr>
              <a:t>if($nilai &gt;= 70)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id-ID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$status = "Lulus";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id-ID" sz="900" dirty="0">
                <a:latin typeface="Courier New" panose="02070309020205020404" pitchFamily="49" charset="0"/>
                <a:cs typeface="Courier New" panose="02070309020205020404" pitchFamily="49" charset="0"/>
              </a:rPr>
              <a:t>}else{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id-ID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$status = "Remidi";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id-ID" sz="9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id-ID" sz="900" dirty="0">
                <a:latin typeface="Courier New" panose="02070309020205020404" pitchFamily="49" charset="0"/>
                <a:cs typeface="Courier New" panose="02070309020205020404" pitchFamily="49" charset="0"/>
              </a:rPr>
              <a:t>//tes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id-ID" sz="900" dirty="0">
                <a:latin typeface="Courier New" panose="02070309020205020404" pitchFamily="49" charset="0"/>
                <a:cs typeface="Courier New" panose="02070309020205020404" pitchFamily="49" charset="0"/>
              </a:rPr>
              <a:t>echo "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id-ID" sz="900" dirty="0">
                <a:latin typeface="Courier New" panose="02070309020205020404" pitchFamily="49" charset="0"/>
                <a:cs typeface="Courier New" panose="02070309020205020404" pitchFamily="49" charset="0"/>
              </a:rPr>
              <a:t>Nama 	: $nama&lt;br&gt;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id-ID" sz="900" dirty="0">
                <a:latin typeface="Courier New" panose="02070309020205020404" pitchFamily="49" charset="0"/>
                <a:cs typeface="Courier New" panose="02070309020205020404" pitchFamily="49" charset="0"/>
              </a:rPr>
              <a:t>	Nilai 	: $nilai&lt;br&gt;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id-ID" sz="900" dirty="0">
                <a:latin typeface="Courier New" panose="02070309020205020404" pitchFamily="49" charset="0"/>
                <a:cs typeface="Courier New" panose="02070309020205020404" pitchFamily="49" charset="0"/>
              </a:rPr>
              <a:t>	Kelas 	: $kelas&lt;br&gt;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id-ID" sz="900" dirty="0">
                <a:latin typeface="Courier New" panose="02070309020205020404" pitchFamily="49" charset="0"/>
                <a:cs typeface="Courier New" panose="02070309020205020404" pitchFamily="49" charset="0"/>
              </a:rPr>
              <a:t>	Status 	: $status&lt;br&gt;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id-ID" sz="900" dirty="0">
                <a:latin typeface="Courier New" panose="02070309020205020404" pitchFamily="49" charset="0"/>
                <a:cs typeface="Courier New" panose="02070309020205020404" pitchFamily="49" charset="0"/>
              </a:rPr>
              <a:t>";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id-ID" sz="900" dirty="0">
                <a:latin typeface="Courier New" panose="02070309020205020404" pitchFamily="49" charset="0"/>
                <a:cs typeface="Courier New" panose="02070309020205020404" pitchFamily="49" charset="0"/>
              </a:rPr>
              <a:t>?&gt;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id-ID" sz="900" dirty="0">
                <a:latin typeface="Courier New" panose="02070309020205020404" pitchFamily="49" charset="0"/>
                <a:cs typeface="Courier New" panose="02070309020205020404" pitchFamily="49" charset="0"/>
              </a:rPr>
              <a:t>&lt;hr&gt;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id-ID" sz="900" dirty="0">
                <a:latin typeface="Courier New" panose="02070309020205020404" pitchFamily="49" charset="0"/>
                <a:cs typeface="Courier New" panose="02070309020205020404" pitchFamily="49" charset="0"/>
              </a:rPr>
              <a:t>&lt;?php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id-ID" sz="9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//Deklarasi dan Inisialisasi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id-ID" sz="900" dirty="0">
                <a:latin typeface="Courier New" panose="02070309020205020404" pitchFamily="49" charset="0"/>
                <a:cs typeface="Courier New" panose="02070309020205020404" pitchFamily="49" charset="0"/>
              </a:rPr>
              <a:t>$nama2 = "Ajeng";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id-ID" sz="900" dirty="0">
                <a:latin typeface="Courier New" panose="02070309020205020404" pitchFamily="49" charset="0"/>
                <a:cs typeface="Courier New" panose="02070309020205020404" pitchFamily="49" charset="0"/>
              </a:rPr>
              <a:t>//tes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id-ID" sz="900" dirty="0">
                <a:latin typeface="Courier New" panose="02070309020205020404" pitchFamily="49" charset="0"/>
                <a:cs typeface="Courier New" panose="02070309020205020404" pitchFamily="49" charset="0"/>
              </a:rPr>
              <a:t>echo "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id-ID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Nama  : $nama2&lt;br&gt;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id-ID" sz="900" dirty="0">
                <a:latin typeface="Courier New" panose="02070309020205020404" pitchFamily="49" charset="0"/>
                <a:cs typeface="Courier New" panose="02070309020205020404" pitchFamily="49" charset="0"/>
              </a:rPr>
              <a:t>";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id-ID" sz="900" dirty="0">
                <a:latin typeface="Courier New" panose="02070309020205020404" pitchFamily="49" charset="0"/>
                <a:cs typeface="Courier New" panose="02070309020205020404" pitchFamily="49" charset="0"/>
              </a:rPr>
              <a:t>?&gt;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09156"/>
            <a:ext cx="4572000" cy="51329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2800" b="1" dirty="0">
                <a:solidFill>
                  <a:schemeClr val="tx1"/>
                </a:solidFill>
              </a:rPr>
              <a:t>PROCEDURAL</a:t>
            </a:r>
          </a:p>
        </p:txBody>
      </p:sp>
      <p:sp>
        <p:nvSpPr>
          <p:cNvPr id="7" name="Rectangle 6"/>
          <p:cNvSpPr/>
          <p:nvPr/>
        </p:nvSpPr>
        <p:spPr>
          <a:xfrm>
            <a:off x="4565561" y="1309156"/>
            <a:ext cx="4572000" cy="51329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2800" b="1" dirty="0">
                <a:solidFill>
                  <a:schemeClr val="tx1"/>
                </a:solidFill>
              </a:rPr>
              <a:t>OOP</a:t>
            </a: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4562474" y="1831975"/>
            <a:ext cx="4581525" cy="503555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457178" indent="-45717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q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q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q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id-ID" sz="800" dirty="0">
                <a:latin typeface="Courier New" panose="02070309020205020404" pitchFamily="49" charset="0"/>
                <a:cs typeface="Courier New" panose="02070309020205020404" pitchFamily="49" charset="0"/>
              </a:rPr>
              <a:t>&lt;?php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id-ID" sz="8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//cetakan atau blueprint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id-ID" sz="800" dirty="0">
                <a:latin typeface="Courier New" panose="02070309020205020404" pitchFamily="49" charset="0"/>
                <a:cs typeface="Courier New" panose="02070309020205020404" pitchFamily="49" charset="0"/>
              </a:rPr>
              <a:t>class Siswa{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  <a:tabLst>
                <a:tab pos="355600" algn="l"/>
              </a:tabLst>
            </a:pPr>
            <a:r>
              <a:rPr lang="id-ID" sz="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id-ID" sz="8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Property atau Atribut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  <a:tabLst>
                <a:tab pos="355600" algn="l"/>
              </a:tabLst>
            </a:pPr>
            <a:r>
              <a:rPr lang="id-ID" sz="800" dirty="0">
                <a:latin typeface="Courier New" panose="02070309020205020404" pitchFamily="49" charset="0"/>
                <a:cs typeface="Courier New" panose="02070309020205020404" pitchFamily="49" charset="0"/>
              </a:rPr>
              <a:t>	public $nama;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  <a:tabLst>
                <a:tab pos="355600" algn="l"/>
              </a:tabLst>
            </a:pPr>
            <a:r>
              <a:rPr lang="id-ID" sz="800" dirty="0">
                <a:latin typeface="Courier New" panose="02070309020205020404" pitchFamily="49" charset="0"/>
                <a:cs typeface="Courier New" panose="02070309020205020404" pitchFamily="49" charset="0"/>
              </a:rPr>
              <a:t>	public $nilai;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  <a:tabLst>
                <a:tab pos="355600" algn="l"/>
              </a:tabLst>
            </a:pPr>
            <a:r>
              <a:rPr lang="id-ID" sz="800" dirty="0">
                <a:latin typeface="Courier New" panose="02070309020205020404" pitchFamily="49" charset="0"/>
                <a:cs typeface="Courier New" panose="02070309020205020404" pitchFamily="49" charset="0"/>
              </a:rPr>
              <a:t>	public $kelas;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  <a:tabLst>
                <a:tab pos="355600" algn="l"/>
              </a:tabLst>
            </a:pPr>
            <a:r>
              <a:rPr lang="id-ID" sz="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id-ID" sz="8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Method atau Behaviour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  <a:tabLst>
                <a:tab pos="355600" algn="l"/>
              </a:tabLst>
            </a:pPr>
            <a:r>
              <a:rPr lang="id-ID" sz="800" dirty="0">
                <a:latin typeface="Courier New" panose="02070309020205020404" pitchFamily="49" charset="0"/>
                <a:cs typeface="Courier New" panose="02070309020205020404" pitchFamily="49" charset="0"/>
              </a:rPr>
              <a:t>	function StatusNilai()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  <a:tabLst>
                <a:tab pos="355600" algn="l"/>
                <a:tab pos="715963" algn="l"/>
              </a:tabLst>
            </a:pPr>
            <a:r>
              <a:rPr lang="id-ID" sz="800" dirty="0">
                <a:latin typeface="Courier New" panose="02070309020205020404" pitchFamily="49" charset="0"/>
                <a:cs typeface="Courier New" panose="02070309020205020404" pitchFamily="49" charset="0"/>
              </a:rPr>
              <a:t>		if($this-&gt;nilai &gt;= 70)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  <a:tabLst>
                <a:tab pos="355600" algn="l"/>
                <a:tab pos="715963" algn="l"/>
                <a:tab pos="982663" algn="l"/>
              </a:tabLst>
            </a:pPr>
            <a:r>
              <a:rPr lang="id-ID" sz="800" dirty="0">
                <a:latin typeface="Courier New" panose="02070309020205020404" pitchFamily="49" charset="0"/>
                <a:cs typeface="Courier New" panose="02070309020205020404" pitchFamily="49" charset="0"/>
              </a:rPr>
              <a:t>			$status = "Lulus";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  <a:tabLst>
                <a:tab pos="355600" algn="l"/>
                <a:tab pos="715963" algn="l"/>
                <a:tab pos="982663" algn="l"/>
              </a:tabLst>
            </a:pPr>
            <a:r>
              <a:rPr lang="id-ID" sz="800" dirty="0">
                <a:latin typeface="Courier New" panose="02070309020205020404" pitchFamily="49" charset="0"/>
                <a:cs typeface="Courier New" panose="02070309020205020404" pitchFamily="49" charset="0"/>
              </a:rPr>
              <a:t>		}else{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  <a:tabLst>
                <a:tab pos="355600" algn="l"/>
                <a:tab pos="715963" algn="l"/>
                <a:tab pos="982663" algn="l"/>
              </a:tabLst>
            </a:pPr>
            <a:r>
              <a:rPr lang="id-ID" sz="800" dirty="0">
                <a:latin typeface="Courier New" panose="02070309020205020404" pitchFamily="49" charset="0"/>
                <a:cs typeface="Courier New" panose="02070309020205020404" pitchFamily="49" charset="0"/>
              </a:rPr>
              <a:t>			$status = "Remidi";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  <a:tabLst>
                <a:tab pos="355600" algn="l"/>
                <a:tab pos="715963" algn="l"/>
                <a:tab pos="982663" algn="l"/>
              </a:tabLst>
            </a:pPr>
            <a:r>
              <a:rPr lang="id-ID" sz="800" dirty="0">
                <a:latin typeface="Courier New" panose="02070309020205020404" pitchFamily="49" charset="0"/>
                <a:cs typeface="Courier New" panose="02070309020205020404" pitchFamily="49" charset="0"/>
              </a:rPr>
              <a:t>		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  <a:tabLst>
                <a:tab pos="355600" algn="l"/>
                <a:tab pos="715963" algn="l"/>
                <a:tab pos="982663" algn="l"/>
              </a:tabLst>
            </a:pPr>
            <a:r>
              <a:rPr lang="id-ID" sz="800" dirty="0">
                <a:latin typeface="Courier New" panose="02070309020205020404" pitchFamily="49" charset="0"/>
                <a:cs typeface="Courier New" panose="02070309020205020404" pitchFamily="49" charset="0"/>
              </a:rPr>
              <a:t>		return $status;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  <a:tabLst>
                <a:tab pos="355600" algn="l"/>
                <a:tab pos="715963" algn="l"/>
                <a:tab pos="982663" algn="l"/>
              </a:tabLst>
            </a:pPr>
            <a:r>
              <a:rPr lang="id-ID" sz="800" dirty="0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id-ID" sz="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id-ID" sz="8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//Instansiasi </a:t>
            </a:r>
            <a:r>
              <a:rPr lang="id-ID" sz="800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endParaRPr lang="id-ID" sz="7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id-ID" sz="800" dirty="0">
                <a:latin typeface="Courier New" panose="02070309020205020404" pitchFamily="49" charset="0"/>
                <a:cs typeface="Courier New" panose="02070309020205020404" pitchFamily="49" charset="0"/>
              </a:rPr>
              <a:t>$pribadi = new Siswa();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id-ID" sz="800" dirty="0">
                <a:latin typeface="Courier New" panose="02070309020205020404" pitchFamily="49" charset="0"/>
                <a:cs typeface="Courier New" panose="02070309020205020404" pitchFamily="49" charset="0"/>
              </a:rPr>
              <a:t>$pribadi-&gt;nama = "Hikmawati";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id-ID" sz="800" dirty="0">
                <a:latin typeface="Courier New" panose="02070309020205020404" pitchFamily="49" charset="0"/>
                <a:cs typeface="Courier New" panose="02070309020205020404" pitchFamily="49" charset="0"/>
              </a:rPr>
              <a:t>$pribadi-&gt;nilai = 60;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id-ID" sz="800" dirty="0">
                <a:latin typeface="Courier New" panose="02070309020205020404" pitchFamily="49" charset="0"/>
                <a:cs typeface="Courier New" panose="02070309020205020404" pitchFamily="49" charset="0"/>
              </a:rPr>
              <a:t>$pribadi-&gt;kelas = "AKN Bojonegoro";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id-ID" sz="800" dirty="0">
                <a:latin typeface="Courier New" panose="02070309020205020404" pitchFamily="49" charset="0"/>
                <a:cs typeface="Courier New" panose="02070309020205020404" pitchFamily="49" charset="0"/>
              </a:rPr>
              <a:t>echo “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  <a:tabLst>
                <a:tab pos="361950" algn="l"/>
              </a:tabLst>
            </a:pPr>
            <a:r>
              <a:rPr lang="id-ID" sz="800" dirty="0">
                <a:latin typeface="Courier New" panose="02070309020205020404" pitchFamily="49" charset="0"/>
                <a:cs typeface="Courier New" panose="02070309020205020404" pitchFamily="49" charset="0"/>
              </a:rPr>
              <a:t>	Nama 	: ".$pribadi-&gt;nama."&lt;br&gt;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  <a:tabLst>
                <a:tab pos="361950" algn="l"/>
              </a:tabLst>
            </a:pPr>
            <a:r>
              <a:rPr lang="id-ID" sz="800" dirty="0">
                <a:latin typeface="Courier New" panose="02070309020205020404" pitchFamily="49" charset="0"/>
                <a:cs typeface="Courier New" panose="02070309020205020404" pitchFamily="49" charset="0"/>
              </a:rPr>
              <a:t>	Nilai 	: ".$pribadi-&gt;nilai."&lt;br&gt;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  <a:tabLst>
                <a:tab pos="361950" algn="l"/>
              </a:tabLst>
            </a:pPr>
            <a:r>
              <a:rPr lang="id-ID" sz="800" dirty="0">
                <a:latin typeface="Courier New" panose="02070309020205020404" pitchFamily="49" charset="0"/>
                <a:cs typeface="Courier New" panose="02070309020205020404" pitchFamily="49" charset="0"/>
              </a:rPr>
              <a:t>	Kelas 	: ".$pribadi-&gt;kelas."&lt;br&gt;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  <a:tabLst>
                <a:tab pos="361950" algn="l"/>
              </a:tabLst>
            </a:pPr>
            <a:r>
              <a:rPr lang="id-ID" sz="800" dirty="0">
                <a:latin typeface="Courier New" panose="02070309020205020404" pitchFamily="49" charset="0"/>
                <a:cs typeface="Courier New" panose="02070309020205020404" pitchFamily="49" charset="0"/>
              </a:rPr>
              <a:t>	Status 	: ".$pribadi-&gt;StatusNilai()."&lt;br&gt;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id-ID" sz="800" dirty="0">
                <a:latin typeface="Courier New" panose="02070309020205020404" pitchFamily="49" charset="0"/>
                <a:cs typeface="Courier New" panose="02070309020205020404" pitchFamily="49" charset="0"/>
              </a:rPr>
              <a:t>";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id-ID" sz="800" dirty="0">
                <a:latin typeface="Courier New" panose="02070309020205020404" pitchFamily="49" charset="0"/>
                <a:cs typeface="Courier New" panose="02070309020205020404" pitchFamily="49" charset="0"/>
              </a:rPr>
              <a:t>echo "&lt;hr&gt;";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id-ID" sz="8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//Instansiasi</a:t>
            </a:r>
            <a:r>
              <a:rPr lang="id-ID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2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id-ID" sz="800" dirty="0">
                <a:latin typeface="Courier New" panose="02070309020205020404" pitchFamily="49" charset="0"/>
                <a:cs typeface="Courier New" panose="02070309020205020404" pitchFamily="49" charset="0"/>
              </a:rPr>
              <a:t>$aj = new Siswa();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id-ID" sz="800" dirty="0">
                <a:latin typeface="Courier New" panose="02070309020205020404" pitchFamily="49" charset="0"/>
                <a:cs typeface="Courier New" panose="02070309020205020404" pitchFamily="49" charset="0"/>
              </a:rPr>
              <a:t>$aj-&gt;nama='Ajeng';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id-ID" sz="800" dirty="0">
                <a:latin typeface="Courier New" panose="02070309020205020404" pitchFamily="49" charset="0"/>
                <a:cs typeface="Courier New" panose="02070309020205020404" pitchFamily="49" charset="0"/>
              </a:rPr>
              <a:t>echo "Nama : $aj-&gt;nama &lt;br&gt;";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4562474" y="1309156"/>
            <a:ext cx="0" cy="554884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/>
          <a:srcRect r="48697"/>
          <a:stretch/>
        </p:blipFill>
        <p:spPr>
          <a:xfrm>
            <a:off x="2392136" y="5395913"/>
            <a:ext cx="2049235" cy="133145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38813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9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9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9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9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9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9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9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9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9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9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9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9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9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9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0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9">
                                            <p:txEl>
                                              <p:pRg st="30" end="3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1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9">
                                            <p:txEl>
                                              <p:pRg st="31" end="3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2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9">
                                            <p:txEl>
                                              <p:pRg st="32" end="3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b="1" dirty="0"/>
              <a:t>Persamaan dan Perbedaan </a:t>
            </a:r>
            <a:r>
              <a:rPr lang="id-ID" sz="4000" dirty="0"/>
              <a:t>Procedural – OOP</a:t>
            </a:r>
            <a:endParaRPr lang="id-ID" dirty="0"/>
          </a:p>
        </p:txBody>
      </p:sp>
      <p:graphicFrame>
        <p:nvGraphicFramePr>
          <p:cNvPr id="10" name="Content Placeholder 3"/>
          <p:cNvGraphicFramePr>
            <a:graphicFrameLocks/>
          </p:cNvGraphicFramePr>
          <p:nvPr>
            <p:extLst/>
          </p:nvPr>
        </p:nvGraphicFramePr>
        <p:xfrm>
          <a:off x="0" y="1601617"/>
          <a:ext cx="9144000" cy="3768668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4890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HAL YANG DIPERTIMBANGKAN</a:t>
                      </a:r>
                    </a:p>
                  </a:txBody>
                  <a:tcPr marL="96849" marR="96849" marT="48424" marB="4842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PROCEDURAL</a:t>
                      </a:r>
                    </a:p>
                  </a:txBody>
                  <a:tcPr marL="96849" marR="96849" marT="48424" marB="4842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OOP</a:t>
                      </a:r>
                    </a:p>
                  </a:txBody>
                  <a:tcPr marL="96849" marR="96849" marT="48424" marB="4842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7309">
                <a:tc>
                  <a:txBody>
                    <a:bodyPr/>
                    <a:lstStyle/>
                    <a:p>
                      <a:pPr algn="r"/>
                      <a:r>
                        <a:rPr lang="en-US" sz="1900" b="1" dirty="0" err="1"/>
                        <a:t>Kegunaan</a:t>
                      </a:r>
                      <a:r>
                        <a:rPr lang="en-US" sz="1900" b="1" dirty="0"/>
                        <a:t> </a:t>
                      </a:r>
                      <a:r>
                        <a:rPr lang="en-US" sz="1900" b="1" dirty="0" err="1"/>
                        <a:t>akhir</a:t>
                      </a:r>
                      <a:r>
                        <a:rPr lang="en-US" sz="1900" b="1" dirty="0"/>
                        <a:t> </a:t>
                      </a:r>
                      <a:r>
                        <a:rPr lang="en-US" sz="1900" b="1" dirty="0">
                          <a:sym typeface="Wingdings" panose="05000000000000000000" pitchFamily="2" charset="2"/>
                        </a:rPr>
                        <a:t></a:t>
                      </a:r>
                      <a:endParaRPr lang="en-US" sz="1900" b="1" dirty="0"/>
                    </a:p>
                  </a:txBody>
                  <a:tcPr marL="96849" marR="96849" marT="48424" marB="48424"/>
                </a:tc>
                <a:tc>
                  <a:txBody>
                    <a:bodyPr/>
                    <a:lstStyle/>
                    <a:p>
                      <a:r>
                        <a:rPr lang="en-US" sz="1900" dirty="0" err="1"/>
                        <a:t>Untuk</a:t>
                      </a:r>
                      <a:r>
                        <a:rPr lang="en-US" sz="1900" dirty="0"/>
                        <a:t> </a:t>
                      </a:r>
                      <a:r>
                        <a:rPr lang="en-US" sz="1900" dirty="0" err="1"/>
                        <a:t>mengembangkan</a:t>
                      </a:r>
                      <a:r>
                        <a:rPr lang="en-US" sz="1900" baseline="0" dirty="0"/>
                        <a:t> program</a:t>
                      </a:r>
                      <a:endParaRPr lang="en-US" sz="1900" dirty="0"/>
                    </a:p>
                  </a:txBody>
                  <a:tcPr marL="96849" marR="96849" marT="48424" marB="48424"/>
                </a:tc>
                <a:tc>
                  <a:txBody>
                    <a:bodyPr/>
                    <a:lstStyle/>
                    <a:p>
                      <a:r>
                        <a:rPr lang="en-US" sz="1900" dirty="0" err="1"/>
                        <a:t>Untuk</a:t>
                      </a:r>
                      <a:r>
                        <a:rPr lang="en-US" sz="1900" dirty="0"/>
                        <a:t> </a:t>
                      </a:r>
                      <a:r>
                        <a:rPr lang="en-US" sz="1900" dirty="0" err="1"/>
                        <a:t>mengembangkan</a:t>
                      </a:r>
                      <a:r>
                        <a:rPr lang="en-US" sz="1900" dirty="0"/>
                        <a:t> program</a:t>
                      </a:r>
                    </a:p>
                  </a:txBody>
                  <a:tcPr marL="96849" marR="96849" marT="48424" marB="4842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9790">
                <a:tc>
                  <a:txBody>
                    <a:bodyPr/>
                    <a:lstStyle/>
                    <a:p>
                      <a:pPr algn="r"/>
                      <a:r>
                        <a:rPr lang="en-US" sz="1900" b="1" dirty="0" err="1"/>
                        <a:t>Kontribusi</a:t>
                      </a:r>
                      <a:r>
                        <a:rPr lang="en-US" sz="1900" b="1" dirty="0"/>
                        <a:t> </a:t>
                      </a:r>
                      <a:r>
                        <a:rPr lang="en-US" sz="1900" b="1" dirty="0">
                          <a:sym typeface="Wingdings" panose="05000000000000000000" pitchFamily="2" charset="2"/>
                        </a:rPr>
                        <a:t></a:t>
                      </a:r>
                      <a:endParaRPr lang="en-US" sz="1900" b="1" dirty="0"/>
                    </a:p>
                  </a:txBody>
                  <a:tcPr marL="96849" marR="96849" marT="48424" marB="48424"/>
                </a:tc>
                <a:tc>
                  <a:txBody>
                    <a:bodyPr/>
                    <a:lstStyle/>
                    <a:p>
                      <a:r>
                        <a:rPr lang="en-US" sz="1900" dirty="0" err="1"/>
                        <a:t>Metode</a:t>
                      </a:r>
                      <a:r>
                        <a:rPr lang="en-US" sz="1900" dirty="0"/>
                        <a:t>/</a:t>
                      </a:r>
                      <a:r>
                        <a:rPr lang="en-US" sz="1900" dirty="0" err="1"/>
                        <a:t>cara</a:t>
                      </a:r>
                      <a:r>
                        <a:rPr lang="en-US" sz="1900" baseline="0" dirty="0"/>
                        <a:t> </a:t>
                      </a:r>
                      <a:r>
                        <a:rPr lang="en-US" sz="1900" baseline="0" dirty="0" err="1"/>
                        <a:t>berfikir</a:t>
                      </a:r>
                      <a:endParaRPr lang="en-US" sz="1900" dirty="0"/>
                    </a:p>
                  </a:txBody>
                  <a:tcPr marL="96849" marR="96849" marT="48424" marB="48424"/>
                </a:tc>
                <a:tc>
                  <a:txBody>
                    <a:bodyPr/>
                    <a:lstStyle/>
                    <a:p>
                      <a:r>
                        <a:rPr lang="en-US" sz="1900" dirty="0" err="1"/>
                        <a:t>Metode</a:t>
                      </a:r>
                      <a:r>
                        <a:rPr lang="en-US" sz="1900" dirty="0"/>
                        <a:t>/</a:t>
                      </a:r>
                      <a:r>
                        <a:rPr lang="en-US" sz="1900" dirty="0" err="1"/>
                        <a:t>cara</a:t>
                      </a:r>
                      <a:r>
                        <a:rPr lang="en-US" sz="1900" dirty="0"/>
                        <a:t> </a:t>
                      </a:r>
                      <a:r>
                        <a:rPr lang="en-US" sz="1900" dirty="0" err="1"/>
                        <a:t>berfikir</a:t>
                      </a:r>
                      <a:endParaRPr lang="en-US" sz="1900" dirty="0"/>
                    </a:p>
                  </a:txBody>
                  <a:tcPr marL="96849" marR="96849" marT="48424" marB="4842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9790">
                <a:tc>
                  <a:txBody>
                    <a:bodyPr/>
                    <a:lstStyle/>
                    <a:p>
                      <a:pPr algn="r"/>
                      <a:r>
                        <a:rPr lang="en-US" sz="1900" b="1" dirty="0"/>
                        <a:t>Basis </a:t>
                      </a:r>
                      <a:r>
                        <a:rPr lang="en-US" sz="1900" b="1" dirty="0" err="1"/>
                        <a:t>Metode</a:t>
                      </a:r>
                      <a:r>
                        <a:rPr lang="en-US" sz="1900" b="1" baseline="0" dirty="0"/>
                        <a:t> </a:t>
                      </a:r>
                      <a:r>
                        <a:rPr lang="en-US" sz="1900" b="1" baseline="0" dirty="0">
                          <a:sym typeface="Wingdings" panose="05000000000000000000" pitchFamily="2" charset="2"/>
                        </a:rPr>
                        <a:t></a:t>
                      </a:r>
                      <a:endParaRPr lang="en-US" sz="1900" b="1" dirty="0"/>
                    </a:p>
                  </a:txBody>
                  <a:tcPr marL="96849" marR="96849" marT="48424" marB="48424"/>
                </a:tc>
                <a:tc>
                  <a:txBody>
                    <a:bodyPr/>
                    <a:lstStyle/>
                    <a:p>
                      <a:r>
                        <a:rPr lang="en-US" sz="1900" dirty="0" err="1"/>
                        <a:t>Algoritmik</a:t>
                      </a:r>
                      <a:endParaRPr lang="en-US" sz="1900" dirty="0"/>
                    </a:p>
                  </a:txBody>
                  <a:tcPr marL="96849" marR="96849" marT="48424" marB="48424"/>
                </a:tc>
                <a:tc>
                  <a:txBody>
                    <a:bodyPr/>
                    <a:lstStyle/>
                    <a:p>
                      <a:r>
                        <a:rPr lang="en-US" sz="1900" dirty="0" err="1"/>
                        <a:t>Objek</a:t>
                      </a:r>
                      <a:endParaRPr lang="en-US" sz="1900" dirty="0"/>
                    </a:p>
                  </a:txBody>
                  <a:tcPr marL="96849" marR="96849" marT="48424" marB="4842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7309">
                <a:tc>
                  <a:txBody>
                    <a:bodyPr/>
                    <a:lstStyle/>
                    <a:p>
                      <a:pPr algn="r"/>
                      <a:r>
                        <a:rPr lang="en-US" sz="1900" b="1" dirty="0"/>
                        <a:t>Level</a:t>
                      </a:r>
                      <a:r>
                        <a:rPr lang="en-US" sz="1900" b="1" baseline="0" dirty="0"/>
                        <a:t> </a:t>
                      </a:r>
                      <a:r>
                        <a:rPr lang="en-US" sz="1900" b="1" dirty="0" err="1"/>
                        <a:t>Pengguna</a:t>
                      </a:r>
                      <a:r>
                        <a:rPr lang="en-US" sz="1900" b="1" dirty="0"/>
                        <a:t> </a:t>
                      </a:r>
                      <a:r>
                        <a:rPr lang="en-US" sz="1900" b="1" dirty="0">
                          <a:sym typeface="Wingdings" panose="05000000000000000000" pitchFamily="2" charset="2"/>
                        </a:rPr>
                        <a:t></a:t>
                      </a:r>
                      <a:endParaRPr lang="en-US" sz="1900" b="1" dirty="0"/>
                    </a:p>
                  </a:txBody>
                  <a:tcPr marL="96849" marR="96849" marT="48424" marB="48424"/>
                </a:tc>
                <a:tc>
                  <a:txBody>
                    <a:bodyPr/>
                    <a:lstStyle/>
                    <a:p>
                      <a:r>
                        <a:rPr lang="en-US" sz="1900" dirty="0" err="1"/>
                        <a:t>Pemula</a:t>
                      </a:r>
                      <a:r>
                        <a:rPr lang="en-US" sz="1900" dirty="0"/>
                        <a:t> </a:t>
                      </a:r>
                    </a:p>
                  </a:txBody>
                  <a:tcPr marL="96849" marR="96849" marT="48424" marB="48424"/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Advanced</a:t>
                      </a:r>
                      <a:r>
                        <a:rPr lang="en-US" sz="1900" baseline="0" dirty="0"/>
                        <a:t> </a:t>
                      </a:r>
                    </a:p>
                    <a:p>
                      <a:r>
                        <a:rPr lang="en-US" sz="1900" baseline="0" dirty="0"/>
                        <a:t>(</a:t>
                      </a:r>
                      <a:r>
                        <a:rPr lang="en-US" sz="1900" dirty="0" err="1"/>
                        <a:t>Menengah</a:t>
                      </a:r>
                      <a:r>
                        <a:rPr lang="en-US" sz="1900" baseline="0" dirty="0"/>
                        <a:t> </a:t>
                      </a:r>
                      <a:r>
                        <a:rPr lang="en-US" sz="1900" baseline="0" dirty="0" err="1"/>
                        <a:t>Keatas</a:t>
                      </a:r>
                      <a:r>
                        <a:rPr lang="en-US" sz="1900" baseline="0" dirty="0"/>
                        <a:t>)</a:t>
                      </a:r>
                      <a:endParaRPr lang="en-US" sz="1900" dirty="0"/>
                    </a:p>
                  </a:txBody>
                  <a:tcPr marL="96849" marR="96849" marT="48424" marB="4842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9790">
                <a:tc>
                  <a:txBody>
                    <a:bodyPr/>
                    <a:lstStyle/>
                    <a:p>
                      <a:pPr algn="r"/>
                      <a:r>
                        <a:rPr lang="en-US" sz="1900" b="1" dirty="0" err="1">
                          <a:sym typeface="Wingdings" panose="05000000000000000000" pitchFamily="2" charset="2"/>
                        </a:rPr>
                        <a:t>Mulai</a:t>
                      </a:r>
                      <a:r>
                        <a:rPr lang="en-US" sz="1900" b="1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900" b="1" dirty="0" err="1">
                          <a:sym typeface="Wingdings" panose="05000000000000000000" pitchFamily="2" charset="2"/>
                        </a:rPr>
                        <a:t>Berkembang</a:t>
                      </a:r>
                      <a:r>
                        <a:rPr lang="en-US" sz="1900" b="1" baseline="0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900" b="1" dirty="0">
                          <a:sym typeface="Wingdings" panose="05000000000000000000" pitchFamily="2" charset="2"/>
                        </a:rPr>
                        <a:t></a:t>
                      </a:r>
                      <a:endParaRPr lang="en-US" sz="1900" b="1" dirty="0"/>
                    </a:p>
                  </a:txBody>
                  <a:tcPr marL="96849" marR="96849" marT="48424" marB="48424"/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-</a:t>
                      </a:r>
                    </a:p>
                  </a:txBody>
                  <a:tcPr marL="96849" marR="96849" marT="48424" marB="48424"/>
                </a:tc>
                <a:tc>
                  <a:txBody>
                    <a:bodyPr/>
                    <a:lstStyle/>
                    <a:p>
                      <a:r>
                        <a:rPr lang="en-US" sz="1900"/>
                        <a:t>1950</a:t>
                      </a:r>
                      <a:endParaRPr lang="en-US" sz="1900" dirty="0"/>
                    </a:p>
                  </a:txBody>
                  <a:tcPr marL="96849" marR="96849" marT="48424" marB="48424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9790">
                <a:tc>
                  <a:txBody>
                    <a:bodyPr/>
                    <a:lstStyle/>
                    <a:p>
                      <a:pPr algn="r"/>
                      <a:r>
                        <a:rPr lang="en-US" sz="1900" b="1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900" b="1" baseline="0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900" b="1" baseline="0" dirty="0" err="1">
                          <a:sym typeface="Wingdings" panose="05000000000000000000" pitchFamily="2" charset="2"/>
                        </a:rPr>
                        <a:t>Keefisienan</a:t>
                      </a:r>
                      <a:r>
                        <a:rPr lang="en-US" sz="1900" b="1" baseline="0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900" b="1" dirty="0">
                          <a:sym typeface="Wingdings" panose="05000000000000000000" pitchFamily="2" charset="2"/>
                        </a:rPr>
                        <a:t></a:t>
                      </a:r>
                      <a:endParaRPr lang="en-US" sz="1900" b="1" dirty="0"/>
                    </a:p>
                  </a:txBody>
                  <a:tcPr marL="96849" marR="96849" marT="48424" marB="48424"/>
                </a:tc>
                <a:tc>
                  <a:txBody>
                    <a:bodyPr/>
                    <a:lstStyle/>
                    <a:p>
                      <a:r>
                        <a:rPr lang="en-US" sz="1900" dirty="0" err="1"/>
                        <a:t>Kurang</a:t>
                      </a:r>
                      <a:endParaRPr lang="en-US" sz="1900" dirty="0"/>
                    </a:p>
                  </a:txBody>
                  <a:tcPr marL="96849" marR="96849" marT="48424" marB="48424"/>
                </a:tc>
                <a:tc>
                  <a:txBody>
                    <a:bodyPr/>
                    <a:lstStyle/>
                    <a:p>
                      <a:r>
                        <a:rPr lang="en-US" sz="1900" dirty="0" err="1"/>
                        <a:t>Maksimal</a:t>
                      </a:r>
                      <a:endParaRPr lang="en-US" sz="1900" dirty="0"/>
                    </a:p>
                  </a:txBody>
                  <a:tcPr marL="96849" marR="96849" marT="48424" marB="48424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17471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Referensi 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7000" y="1442506"/>
            <a:ext cx="8826500" cy="5076151"/>
          </a:xfrm>
        </p:spPr>
        <p:txBody>
          <a:bodyPr>
            <a:noAutofit/>
          </a:bodyPr>
          <a:lstStyle/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en-US" sz="1780" dirty="0"/>
              <a:t>Andrea Tar. 2012. PHP and MySQL 24-Hour Trainer</a:t>
            </a:r>
          </a:p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en-US" sz="1780" dirty="0"/>
              <a:t>Brett McLaughlin. 2012. PHP &amp; MySQL- The Missing Manual. USA-Brett McLaughlin. USA-O'REILLY Media</a:t>
            </a:r>
          </a:p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en-US" sz="1780" dirty="0"/>
              <a:t>Brett McLaughlin. 2013. PHP &amp; MySQL- The Missing Manual, 2nd Edition. USA-Brett McLaughlin. USA-O'REILLY Media</a:t>
            </a:r>
          </a:p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en-US" sz="1780" dirty="0" err="1"/>
              <a:t>Deitel</a:t>
            </a:r>
            <a:r>
              <a:rPr lang="en-US" sz="1780" dirty="0"/>
              <a:t>, Harvey and Paul </a:t>
            </a:r>
            <a:r>
              <a:rPr lang="en-US" sz="1780" dirty="0" err="1"/>
              <a:t>Deitel</a:t>
            </a:r>
            <a:r>
              <a:rPr lang="en-US" sz="1780" dirty="0"/>
              <a:t>. 2007. Internet &amp; World Wide Web, How to Program. 4th Edition. Prentice Hall</a:t>
            </a:r>
            <a:endParaRPr lang="it-IT" sz="1780" dirty="0"/>
          </a:p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it-IT" sz="1780" dirty="0"/>
              <a:t>Fadila, Armando dkk. Pro PHP Application Performance</a:t>
            </a:r>
          </a:p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en-US" sz="1780" dirty="0"/>
              <a:t>Gilmore, W. Jason.  2010. Beginning </a:t>
            </a:r>
            <a:r>
              <a:rPr lang="en-US" sz="1780" dirty="0" err="1"/>
              <a:t>php</a:t>
            </a:r>
            <a:r>
              <a:rPr lang="en-US" sz="1780" dirty="0"/>
              <a:t> and </a:t>
            </a:r>
            <a:r>
              <a:rPr lang="en-US" sz="1780" dirty="0" err="1"/>
              <a:t>mysql</a:t>
            </a:r>
            <a:r>
              <a:rPr lang="en-US" sz="1780" dirty="0"/>
              <a:t> from novice to professional, 4th edition</a:t>
            </a:r>
          </a:p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it-IT" sz="1780" dirty="0"/>
              <a:t>Head First PHP &amp; MySQL</a:t>
            </a:r>
          </a:p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en-US" sz="1780" dirty="0"/>
              <a:t>Kroenke, David. 2013. Database Processing 12th Edition</a:t>
            </a:r>
          </a:p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en-US" sz="1780" dirty="0" err="1"/>
              <a:t>Lamandi</a:t>
            </a:r>
            <a:r>
              <a:rPr lang="en-US" sz="1780" dirty="0"/>
              <a:t>, BB </a:t>
            </a:r>
            <a:r>
              <a:rPr lang="en-US" sz="1780" dirty="0" err="1"/>
              <a:t>dkk</a:t>
            </a:r>
            <a:r>
              <a:rPr lang="en-US" sz="1780" dirty="0"/>
              <a:t>. 2009. AJAX and PHP Building Modern Web Applications, 2nd Edition</a:t>
            </a:r>
          </a:p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it-IT" sz="1780" dirty="0"/>
              <a:t>LesLie. Web Standards Mastering HTML5, CSS3, dan XML</a:t>
            </a:r>
          </a:p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it-IT" sz="1780" dirty="0"/>
              <a:t>Loka Dwiartara. Menyelam dan Menaklukan Samudra PHP</a:t>
            </a:r>
          </a:p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it-IT" sz="1780" dirty="0"/>
              <a:t>Michcel, Lorna Jane. PHP Web Services</a:t>
            </a:r>
          </a:p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it-IT" sz="1780" dirty="0"/>
              <a:t>Mysql Official. 2016. MySQL 5.7 Reference Manual-en</a:t>
            </a:r>
          </a:p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it-IT" sz="1780" dirty="0"/>
              <a:t>Official. php_manual_en</a:t>
            </a:r>
          </a:p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en-US" sz="1780" dirty="0"/>
              <a:t>PHP6 and MySQL Bible by Steve </a:t>
            </a:r>
            <a:r>
              <a:rPr lang="en-US" sz="1780" dirty="0" err="1"/>
              <a:t>Suehring</a:t>
            </a:r>
            <a:endParaRPr lang="id-ID" sz="1780" dirty="0"/>
          </a:p>
        </p:txBody>
      </p:sp>
    </p:spTree>
    <p:extLst>
      <p:ext uri="{BB962C8B-B14F-4D97-AF65-F5344CB8AC3E}">
        <p14:creationId xmlns:p14="http://schemas.microsoft.com/office/powerpoint/2010/main" val="16021333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Referensi 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7000" y="1442506"/>
            <a:ext cx="8839200" cy="5076151"/>
          </a:xfrm>
        </p:spPr>
        <p:txBody>
          <a:bodyPr>
            <a:noAutofit/>
          </a:bodyPr>
          <a:lstStyle/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en-US" sz="1780" dirty="0"/>
              <a:t>Power, David. PHP Solutions, 3rd Edition</a:t>
            </a:r>
          </a:p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en-US" sz="1780" dirty="0"/>
              <a:t>Powers, David. 2010. PHP Solutions Dynamic Web Design Made Easy 2nd Edition. </a:t>
            </a:r>
            <a:r>
              <a:rPr lang="en-US" sz="1780" dirty="0" err="1"/>
              <a:t>Friendsoft-Apress</a:t>
            </a:r>
            <a:r>
              <a:rPr lang="en-US" sz="1780" dirty="0"/>
              <a:t> company-USA</a:t>
            </a:r>
          </a:p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en-US" sz="1780" dirty="0"/>
              <a:t>Robert W. Sebesta. 2014. Programming the World Wide Web 2014 (8th Edition). Addison Wesley</a:t>
            </a:r>
          </a:p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it-IT" sz="1780" dirty="0"/>
              <a:t>Rochkin Mark. 2013. Expert PHP and MySQL</a:t>
            </a:r>
          </a:p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it-IT" sz="1780" dirty="0"/>
              <a:t>Rosihanari. Basic PHP Tutorial</a:t>
            </a:r>
          </a:p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it-IT" sz="1780" dirty="0"/>
              <a:t>Ruehning, dkk. php_mysql_javascript__html5_all-in-one_for_dummies</a:t>
            </a:r>
          </a:p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it-IT" sz="1780" dirty="0"/>
              <a:t>Sams.Sams.Teach.Yourself.PHP.MySQL.and.Apache.All-in-One.ISBN0672326205</a:t>
            </a:r>
          </a:p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it-IT" sz="1780" dirty="0"/>
              <a:t>Solichin, Achmad. Pemrograman Web dengan PHP MySQL</a:t>
            </a:r>
          </a:p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it-IT" sz="1780" dirty="0"/>
              <a:t>Tatro, Kvein, dkk. 2013. Programming PHP, 3rd Edition. USA-O'REILLY Media</a:t>
            </a:r>
          </a:p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it-IT" sz="1780" dirty="0"/>
              <a:t>Tutorialpoints.com - mysql tutorial</a:t>
            </a:r>
          </a:p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en-US" sz="1780" dirty="0" err="1"/>
              <a:t>Valade</a:t>
            </a:r>
            <a:r>
              <a:rPr lang="en-US" sz="1780" dirty="0"/>
              <a:t>, Janet. PHP &amp; MySQL Web Development All-in-One Desk Reference For Dummies. </a:t>
            </a:r>
            <a:r>
              <a:rPr lang="en-US" sz="1780" dirty="0" err="1"/>
              <a:t>CanadaWiley</a:t>
            </a:r>
            <a:r>
              <a:rPr lang="en-US" sz="1780" dirty="0"/>
              <a:t> </a:t>
            </a:r>
            <a:r>
              <a:rPr lang="en-US" sz="1780" dirty="0" err="1"/>
              <a:t>Publishing,Inc</a:t>
            </a:r>
            <a:r>
              <a:rPr lang="en-US" sz="1780" dirty="0"/>
              <a:t> </a:t>
            </a:r>
          </a:p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it-IT" sz="1780" dirty="0"/>
              <a:t>W3Schools Offline 2018</a:t>
            </a:r>
          </a:p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it-IT" sz="1780" dirty="0"/>
              <a:t>Wahono, Romi Satria. dasar-php</a:t>
            </a:r>
          </a:p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it-IT" sz="1780" dirty="0"/>
              <a:t>Welling, Luke and Laura Thomson. 2015. Welling php mysql web 3rd. USA - Sam Publishing</a:t>
            </a:r>
          </a:p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it-IT" sz="1780" dirty="0"/>
              <a:t>Widigdo, Anon Kuncoro. 2003. php dan mysql</a:t>
            </a:r>
          </a:p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en-US" sz="1780" dirty="0" err="1"/>
              <a:t>Zandstra</a:t>
            </a:r>
            <a:r>
              <a:rPr lang="en-US" sz="1780" dirty="0"/>
              <a:t>, Matt. PHP Objects, Patterns, and Practice, 4th Edition</a:t>
            </a:r>
            <a:endParaRPr lang="it-IT" sz="1780" dirty="0"/>
          </a:p>
        </p:txBody>
      </p:sp>
    </p:spTree>
    <p:extLst>
      <p:ext uri="{BB962C8B-B14F-4D97-AF65-F5344CB8AC3E}">
        <p14:creationId xmlns:p14="http://schemas.microsoft.com/office/powerpoint/2010/main" val="9236295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3615</TotalTime>
  <Words>719</Words>
  <Application>Microsoft Office PowerPoint</Application>
  <PresentationFormat>On-screen Show (4:3)</PresentationFormat>
  <Paragraphs>218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3" baseType="lpstr">
      <vt:lpstr>Adobe Heiti Std R</vt:lpstr>
      <vt:lpstr>Agency FB</vt:lpstr>
      <vt:lpstr>Arial</vt:lpstr>
      <vt:lpstr>Calibri</vt:lpstr>
      <vt:lpstr>Calibri Light</vt:lpstr>
      <vt:lpstr>Courier New</vt:lpstr>
      <vt:lpstr>Rockwell</vt:lpstr>
      <vt:lpstr>Segoe UI Semilight</vt:lpstr>
      <vt:lpstr>Wingdings</vt:lpstr>
      <vt:lpstr>Office Theme</vt:lpstr>
      <vt:lpstr>PEMROGRAMAN BERORIENTASI OBJEK 01. Pengantar PBO</vt:lpstr>
      <vt:lpstr>01. Pengantar PBO</vt:lpstr>
      <vt:lpstr>1. Pengenalan</vt:lpstr>
      <vt:lpstr>PowerPoint Presentation</vt:lpstr>
      <vt:lpstr>PowerPoint Presentation</vt:lpstr>
      <vt:lpstr>PowerPoint Presentation</vt:lpstr>
      <vt:lpstr>2. Prosedural - OOP</vt:lpstr>
      <vt:lpstr>Konsep Procedural – OOP</vt:lpstr>
      <vt:lpstr>Analogi Procedural – OOP</vt:lpstr>
      <vt:lpstr>Script Procedural – OOP</vt:lpstr>
      <vt:lpstr>Persamaan dan Perbedaan Procedural – OOP</vt:lpstr>
      <vt:lpstr>Referensi (1)</vt:lpstr>
      <vt:lpstr>Referensi (2)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TP</cp:lastModifiedBy>
  <cp:revision>2544</cp:revision>
  <dcterms:created xsi:type="dcterms:W3CDTF">2016-09-02T03:38:50Z</dcterms:created>
  <dcterms:modified xsi:type="dcterms:W3CDTF">2018-09-17T02:48:07Z</dcterms:modified>
</cp:coreProperties>
</file>