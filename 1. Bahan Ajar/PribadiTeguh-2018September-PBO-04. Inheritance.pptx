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256" r:id="rId2"/>
    <p:sldId id="518" r:id="rId3"/>
    <p:sldId id="495" r:id="rId4"/>
    <p:sldId id="522" r:id="rId5"/>
    <p:sldId id="497" r:id="rId6"/>
    <p:sldId id="498" r:id="rId7"/>
    <p:sldId id="499" r:id="rId8"/>
    <p:sldId id="500" r:id="rId9"/>
    <p:sldId id="523" r:id="rId10"/>
    <p:sldId id="502" r:id="rId11"/>
    <p:sldId id="524" r:id="rId12"/>
    <p:sldId id="506" r:id="rId13"/>
    <p:sldId id="507" r:id="rId14"/>
    <p:sldId id="508" r:id="rId15"/>
    <p:sldId id="509" r:id="rId16"/>
    <p:sldId id="510" r:id="rId17"/>
    <p:sldId id="411" r:id="rId18"/>
    <p:sldId id="419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99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28" autoAdjust="0"/>
    <p:restoredTop sz="94660"/>
  </p:normalViewPr>
  <p:slideViewPr>
    <p:cSldViewPr snapToGrid="0">
      <p:cViewPr varScale="1">
        <p:scale>
          <a:sx n="94" d="100"/>
          <a:sy n="94" d="100"/>
        </p:scale>
        <p:origin x="690" y="6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9" d="100"/>
          <a:sy n="59" d="100"/>
        </p:scale>
        <p:origin x="2532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C21BEF-BE28-4E76-9D60-7138FB889744}" type="datetimeFigureOut">
              <a:rPr lang="en-US" smtClean="0"/>
              <a:t>10/1/2018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DA3C49-5868-4E61-A677-62436B98976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7599747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CF35F7-200E-49D6-8B7C-AD2DD13040E3}" type="datetimeFigureOut">
              <a:rPr lang="id-ID" smtClean="0"/>
              <a:t>01/10/2018</a:t>
            </a:fld>
            <a:endParaRPr lang="id-ID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d-ID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id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d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E517B7-8B0C-443C-8177-3FD29EF0AB98}" type="slidenum">
              <a:rPr lang="id-ID" smtClean="0"/>
              <a:t>‹#›</a:t>
            </a:fld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4266273675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 hasCustomPrompt="1"/>
          </p:nvPr>
        </p:nvSpPr>
        <p:spPr>
          <a:xfrm>
            <a:off x="628650" y="2062163"/>
            <a:ext cx="7886700" cy="1396785"/>
          </a:xfrm>
        </p:spPr>
        <p:txBody>
          <a:bodyPr anchor="b">
            <a:normAutofit/>
          </a:bodyPr>
          <a:lstStyle>
            <a:lvl1pPr algn="ctr">
              <a:defRPr sz="6500" b="1">
                <a:latin typeface="Agency FB" panose="020B0503020202020204" pitchFamily="34" charset="0"/>
              </a:defRPr>
            </a:lvl1pPr>
          </a:lstStyle>
          <a:p>
            <a:r>
              <a:rPr lang="en-US" dirty="0" err="1"/>
              <a:t>Judul</a:t>
            </a:r>
            <a:r>
              <a:rPr lang="en-US" dirty="0"/>
              <a:t>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628650" y="3602038"/>
            <a:ext cx="7886700" cy="1655762"/>
          </a:xfrm>
        </p:spPr>
        <p:txBody>
          <a:bodyPr/>
          <a:lstStyle>
            <a:lvl1pPr marL="0" indent="0" algn="ctr">
              <a:buNone/>
              <a:defRPr sz="2400">
                <a:latin typeface="Agency FB" panose="020B0503020202020204" pitchFamily="34" charset="0"/>
                <a:ea typeface="Adobe Heiti Std R" panose="020B0400000000000000" pitchFamily="34" charset="-128"/>
              </a:defRPr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BF297A3D-1EBC-4C20-A6D0-B4AB835648C5}"/>
              </a:ext>
            </a:extLst>
          </p:cNvPr>
          <p:cNvGrpSpPr/>
          <p:nvPr userDrawn="1"/>
        </p:nvGrpSpPr>
        <p:grpSpPr>
          <a:xfrm>
            <a:off x="7418768" y="6522818"/>
            <a:ext cx="1725232" cy="335186"/>
            <a:chOff x="7418768" y="6522818"/>
            <a:chExt cx="1725232" cy="335186"/>
          </a:xfrm>
        </p:grpSpPr>
        <p:sp>
          <p:nvSpPr>
            <p:cNvPr id="20" name="Rectangle 19"/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25" name="Rectangle 24"/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31051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http://oconk.heck.in/files/caramemperbaikilamputl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8165" y="496389"/>
            <a:ext cx="1456955" cy="15726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6571" y="496389"/>
            <a:ext cx="6970341" cy="6022268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Tulisan</a:t>
            </a:r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CB640A9-E75A-4093-9667-ABD2E89C2AD7}"/>
              </a:ext>
            </a:extLst>
          </p:cNvPr>
          <p:cNvGrpSpPr/>
          <p:nvPr userDrawn="1"/>
        </p:nvGrpSpPr>
        <p:grpSpPr>
          <a:xfrm>
            <a:off x="7418768" y="6522818"/>
            <a:ext cx="1725232" cy="335186"/>
            <a:chOff x="7418768" y="6522818"/>
            <a:chExt cx="1725232" cy="3351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62ED595-A960-4EC6-A66D-72370EA79B32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6C5A0C2-4FFC-43FE-AF3C-49817869F3D9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89234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3767F55E-A8D4-4080-A68C-7A89EBC25F20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D172E93-39AD-4D63-9BA1-B8B65F6D6F1E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E0B00AE5-724C-4F13-BE78-A3FF537246D8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7" name="Title 1"/>
          <p:cNvSpPr>
            <a:spLocks noGrp="1"/>
          </p:cNvSpPr>
          <p:nvPr>
            <p:ph type="title" hasCustomPrompt="1"/>
          </p:nvPr>
        </p:nvSpPr>
        <p:spPr>
          <a:xfrm>
            <a:off x="175263" y="116932"/>
            <a:ext cx="8778231" cy="1233036"/>
          </a:xfrm>
        </p:spPr>
        <p:txBody>
          <a:bodyPr/>
          <a:lstStyle>
            <a:lvl1pPr>
              <a:defRPr baseline="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Road Map </a:t>
            </a:r>
            <a:r>
              <a:rPr lang="en-US" dirty="0" err="1"/>
              <a:t>Presentasi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 hasCustomPrompt="1"/>
          </p:nvPr>
        </p:nvSpPr>
        <p:spPr>
          <a:xfrm>
            <a:off x="175269" y="1668282"/>
            <a:ext cx="8778231" cy="4854536"/>
          </a:xfrm>
        </p:spPr>
        <p:txBody>
          <a:bodyPr>
            <a:normAutofit/>
          </a:bodyPr>
          <a:lstStyle>
            <a:lvl1pPr marL="404793" indent="-404793">
              <a:buFont typeface="+mj-lt"/>
              <a:buAutoNum type="romanUcPeriod"/>
              <a:defRPr sz="3200" baseline="0"/>
            </a:lvl1pPr>
            <a:lvl2pPr marL="914354" indent="-457178">
              <a:buFont typeface="+mj-lt"/>
              <a:buAutoNum type="arabicPeriod"/>
              <a:defRPr sz="2800"/>
            </a:lvl2pPr>
            <a:lvl3pPr marL="1371532" indent="-457178">
              <a:buFont typeface="+mj-lt"/>
              <a:buAutoNum type="alphaLcPeriod"/>
              <a:defRPr sz="2400"/>
            </a:lvl3pPr>
            <a:lvl4pPr marL="1714414" indent="-342882">
              <a:buFont typeface="+mj-lt"/>
              <a:buAutoNum type="arabicParenR"/>
              <a:defRPr sz="2000"/>
            </a:lvl4pPr>
            <a:lvl5pPr marL="2171592" indent="-342882">
              <a:buFont typeface="+mj-lt"/>
              <a:buAutoNum type="alphaLcParenR"/>
              <a:defRPr sz="2000"/>
            </a:lvl5pPr>
          </a:lstStyle>
          <a:p>
            <a:pPr lvl="0"/>
            <a:r>
              <a:rPr lang="en-US" dirty="0"/>
              <a:t>Bab </a:t>
            </a:r>
          </a:p>
          <a:p>
            <a:pPr lvl="1"/>
            <a:r>
              <a:rPr lang="en-US" dirty="0"/>
              <a:t>Sub Bab</a:t>
            </a:r>
          </a:p>
          <a:p>
            <a:pPr lvl="2"/>
            <a:r>
              <a:rPr lang="en-US" dirty="0"/>
              <a:t>Sub Bab Level 2</a:t>
            </a:r>
          </a:p>
          <a:p>
            <a:pPr lvl="3"/>
            <a:r>
              <a:rPr lang="en-US" dirty="0"/>
              <a:t>Sub Bab Level 3</a:t>
            </a:r>
          </a:p>
          <a:p>
            <a:pPr lvl="4"/>
            <a:r>
              <a:rPr lang="en-US" dirty="0"/>
              <a:t>Sub Bab level 4</a:t>
            </a:r>
          </a:p>
        </p:txBody>
      </p:sp>
      <p:sp>
        <p:nvSpPr>
          <p:cNvPr id="9" name="Rectangle 8"/>
          <p:cNvSpPr/>
          <p:nvPr userDrawn="1"/>
        </p:nvSpPr>
        <p:spPr>
          <a:xfrm>
            <a:off x="1" y="1391516"/>
            <a:ext cx="8953493" cy="245502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41318140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831851" y="1120463"/>
            <a:ext cx="7410449" cy="2308538"/>
          </a:xfrm>
        </p:spPr>
        <p:txBody>
          <a:bodyPr anchor="b">
            <a:normAutofit/>
          </a:bodyPr>
          <a:lstStyle>
            <a:lvl1pPr>
              <a:defRPr sz="5000"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</a:t>
            </a:r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831851" y="3541690"/>
            <a:ext cx="7410449" cy="2547973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  <a:latin typeface="Agency FB" panose="020B0503020202020204" pitchFamily="34" charset="0"/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39DAB42-6B87-4E41-8A58-64139319C82D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2EF7F0A-8D0E-4B48-9292-DB29D3890617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E488A89-9A6A-43B3-8B27-1C5F834123EA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014263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5AEF91FE-CE08-4C64-9D1A-BF086DAC22E9}"/>
              </a:ext>
            </a:extLst>
          </p:cNvPr>
          <p:cNvGrpSpPr/>
          <p:nvPr userDrawn="1"/>
        </p:nvGrpSpPr>
        <p:grpSpPr>
          <a:xfrm>
            <a:off x="7418768" y="6522814"/>
            <a:ext cx="1725232" cy="335186"/>
            <a:chOff x="7418768" y="6522818"/>
            <a:chExt cx="1725232" cy="33518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36587F9-4489-4F31-A201-9E603A9EFA33}"/>
                </a:ext>
              </a:extLst>
            </p:cNvPr>
            <p:cNvSpPr/>
            <p:nvPr userDrawn="1"/>
          </p:nvSpPr>
          <p:spPr>
            <a:xfrm>
              <a:off x="7418768" y="6541203"/>
              <a:ext cx="1331366" cy="29841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lIns="0" rtlCol="0" anchor="ctr"/>
            <a:lstStyle/>
            <a:p>
              <a:pPr marL="0" marR="0" indent="0" algn="r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200" b="1" i="0" dirty="0" err="1">
                  <a:solidFill>
                    <a:srgbClr val="0070C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teguh</a:t>
              </a:r>
              <a:r>
                <a:rPr lang="id-ID" sz="1200" b="1" i="0" dirty="0">
                  <a:solidFill>
                    <a:srgbClr val="FF000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pribadi</a:t>
              </a:r>
              <a:r>
                <a:rPr lang="id-ID" sz="1200" b="1" i="0" dirty="0">
                  <a:solidFill>
                    <a:srgbClr val="002060"/>
                  </a:solidFill>
                  <a:latin typeface="Segoe UI Semilight" panose="020B0402040204020203" pitchFamily="34" charset="0"/>
                  <a:cs typeface="Segoe UI Semilight" panose="020B0402040204020203" pitchFamily="34" charset="0"/>
                </a:rPr>
                <a:t>.com</a:t>
              </a:r>
              <a:endParaRPr lang="en-US" sz="1200" b="1" i="0" dirty="0">
                <a:solidFill>
                  <a:srgbClr val="002060"/>
                </a:solidFill>
                <a:latin typeface="Segoe UI Semilight" panose="020B0402040204020203" pitchFamily="34" charset="0"/>
                <a:cs typeface="Segoe UI Semilight" panose="020B0402040204020203" pitchFamily="34" charset="0"/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57D842AC-AEF0-446E-9DFB-E136E63032D2}"/>
                </a:ext>
              </a:extLst>
            </p:cNvPr>
            <p:cNvSpPr/>
            <p:nvPr userDrawn="1"/>
          </p:nvSpPr>
          <p:spPr>
            <a:xfrm>
              <a:off x="8667768" y="6522818"/>
              <a:ext cx="476232" cy="33518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marL="0" marR="0" indent="0" algn="l" defTabSz="91435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id-ID" sz="1600" b="1" i="0" dirty="0">
                  <a:solidFill>
                    <a:srgbClr val="0070C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T</a:t>
              </a:r>
              <a:r>
                <a:rPr lang="id-ID" sz="1600" b="1" i="0" dirty="0">
                  <a:solidFill>
                    <a:srgbClr val="FF0000"/>
                  </a:solidFill>
                  <a:latin typeface="Rockwell" panose="02060603020205020403" pitchFamily="18" charset="0"/>
                  <a:cs typeface="Segoe UI Semilight" panose="020B0402040204020203" pitchFamily="34" charset="0"/>
                </a:rPr>
                <a:t>P</a:t>
              </a:r>
              <a:endParaRPr lang="en-US" sz="1600" b="1" i="0" dirty="0">
                <a:solidFill>
                  <a:srgbClr val="FF0000"/>
                </a:solidFill>
                <a:latin typeface="Rockwell" panose="02060603020205020403" pitchFamily="18" charset="0"/>
                <a:cs typeface="Segoe UI Semilight" panose="020B0402040204020203" pitchFamily="34" charset="0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76251" y="116943"/>
            <a:ext cx="8319407" cy="1325563"/>
          </a:xfrm>
        </p:spPr>
        <p:txBody>
          <a:bodyPr/>
          <a:lstStyle>
            <a:lvl1pPr>
              <a:defRPr>
                <a:latin typeface="Agency FB" panose="020B0503020202020204" pitchFamily="34" charset="0"/>
              </a:defRPr>
            </a:lvl1pPr>
          </a:lstStyle>
          <a:p>
            <a:r>
              <a:rPr lang="en-US" dirty="0"/>
              <a:t>Bab L1/ L2 /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6251" y="1658982"/>
            <a:ext cx="8319406" cy="4859675"/>
          </a:xfrm>
        </p:spPr>
        <p:txBody>
          <a:bodyPr/>
          <a:lstStyle>
            <a:lvl1pPr marL="457178" indent="-457178">
              <a:buFont typeface="Wingdings" panose="05000000000000000000" pitchFamily="2" charset="2"/>
              <a:buChar char="q"/>
              <a:defRPr/>
            </a:lvl1pPr>
            <a:lvl2pPr marL="685766" indent="-228589">
              <a:buFont typeface="Wingdings" panose="05000000000000000000" pitchFamily="2" charset="2"/>
              <a:buChar char="q"/>
              <a:defRPr/>
            </a:lvl2pPr>
            <a:lvl3pPr marL="1142942" indent="-228589">
              <a:buFont typeface="Wingdings" panose="05000000000000000000" pitchFamily="2" charset="2"/>
              <a:buChar char="q"/>
              <a:defRPr/>
            </a:lvl3pPr>
            <a:lvl4pPr marL="1600120" indent="-228589">
              <a:buFont typeface="Wingdings" panose="05000000000000000000" pitchFamily="2" charset="2"/>
              <a:buChar char="q"/>
              <a:defRPr/>
            </a:lvl4pPr>
            <a:lvl5pPr marL="2057298" indent="-228589">
              <a:buFont typeface="Wingdings" panose="05000000000000000000" pitchFamily="2" charset="2"/>
              <a:buChar char="q"/>
              <a:defRPr/>
            </a:lvl5pPr>
          </a:lstStyle>
          <a:p>
            <a:pPr lvl="0"/>
            <a:r>
              <a:rPr lang="en-US" dirty="0" err="1"/>
              <a:t>Teks</a:t>
            </a:r>
            <a:endParaRPr lang="en-US" dirty="0"/>
          </a:p>
        </p:txBody>
      </p:sp>
      <p:sp>
        <p:nvSpPr>
          <p:cNvPr id="4" name="Rectangle 3"/>
          <p:cNvSpPr/>
          <p:nvPr userDrawn="1"/>
        </p:nvSpPr>
        <p:spPr>
          <a:xfrm>
            <a:off x="115910" y="116943"/>
            <a:ext cx="309707" cy="1325563"/>
          </a:xfrm>
          <a:prstGeom prst="rect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52369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id-ID"/>
              <a:t>2017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ECABF6-CC33-4333-ADC2-3645AF387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037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628650" y="4450177"/>
            <a:ext cx="7886700" cy="1655762"/>
          </a:xfrm>
        </p:spPr>
        <p:txBody>
          <a:bodyPr/>
          <a:lstStyle/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sz="3200" dirty="0" err="1"/>
              <a:t>Teguh</a:t>
            </a:r>
            <a:r>
              <a:rPr lang="en-US" sz="3200" dirty="0"/>
              <a:t> </a:t>
            </a:r>
            <a:r>
              <a:rPr lang="en-US" sz="3200" dirty="0" err="1"/>
              <a:t>Pribadi</a:t>
            </a:r>
            <a:endParaRPr lang="en-US" sz="3200" dirty="0"/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http://www.teguhpribadi</a:t>
            </a:r>
            <a:r>
              <a:rPr lang="id-ID" dirty="0">
                <a:solidFill>
                  <a:schemeClr val="bg1">
                    <a:lumMod val="65000"/>
                  </a:schemeClr>
                </a:solidFill>
              </a:rPr>
              <a:t>.com</a:t>
            </a:r>
            <a:endParaRPr lang="en-US" dirty="0">
              <a:solidFill>
                <a:schemeClr val="bg1">
                  <a:lumMod val="65000"/>
                </a:schemeClr>
              </a:solidFill>
            </a:endParaRPr>
          </a:p>
          <a:p>
            <a:pPr>
              <a:lnSpc>
                <a:spcPct val="80000"/>
              </a:lnSpc>
              <a:spcBef>
                <a:spcPts val="0"/>
              </a:spcBef>
            </a:pP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/telegram 0857 3600 3963 || </a:t>
            </a:r>
            <a:r>
              <a:rPr lang="en-US" dirty="0" err="1">
                <a:solidFill>
                  <a:schemeClr val="bg1">
                    <a:lumMod val="65000"/>
                  </a:schemeClr>
                </a:solidFill>
              </a:rPr>
              <a:t>wa</a:t>
            </a:r>
            <a:r>
              <a:rPr lang="en-US" dirty="0">
                <a:solidFill>
                  <a:schemeClr val="bg1">
                    <a:lumMod val="65000"/>
                  </a:schemeClr>
                </a:solidFill>
              </a:rPr>
              <a:t>/call 082 337 475 885</a:t>
            </a:r>
          </a:p>
          <a:p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88900" y="2062163"/>
            <a:ext cx="8966200" cy="1396785"/>
          </a:xfrm>
        </p:spPr>
        <p:txBody>
          <a:bodyPr>
            <a:normAutofit/>
          </a:bodyPr>
          <a:lstStyle/>
          <a:p>
            <a:r>
              <a:rPr lang="en-US" sz="43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PEMROGRAMAN BERORIENTASI OBJEK</a:t>
            </a:r>
            <a:br>
              <a:rPr lang="en-US" sz="5900" dirty="0">
                <a:solidFill>
                  <a:prstClr val="black"/>
                </a:solidFill>
              </a:rPr>
            </a:br>
            <a:r>
              <a:rPr lang="id-ID" sz="3600" dirty="0">
                <a:solidFill>
                  <a:srgbClr val="0070C0"/>
                </a:solidFill>
              </a:rPr>
              <a:t>0</a:t>
            </a:r>
            <a:r>
              <a:rPr lang="en-US" sz="3600" dirty="0">
                <a:solidFill>
                  <a:srgbClr val="0070C0"/>
                </a:solidFill>
              </a:rPr>
              <a:t>4</a:t>
            </a:r>
            <a:r>
              <a:rPr lang="id-ID" sz="3600" dirty="0">
                <a:solidFill>
                  <a:srgbClr val="0070C0"/>
                </a:solidFill>
              </a:rPr>
              <a:t>. </a:t>
            </a:r>
            <a:r>
              <a:rPr lang="en-US" sz="3500" dirty="0">
                <a:solidFill>
                  <a:srgbClr val="0070C0"/>
                </a:solidFill>
              </a:rPr>
              <a:t>Inheritance</a:t>
            </a:r>
            <a:endParaRPr lang="en-US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7053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04. Inheritance</a:t>
            </a:r>
            <a:endParaRPr lang="en-US" b="1" dirty="0">
              <a:latin typeface="Agency FB" panose="020B0503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3550" indent="-463550">
              <a:buFont typeface="+mj-lt"/>
              <a:buAutoNum type="arabicParenR"/>
            </a:pPr>
            <a:r>
              <a:rPr lang="en-US" dirty="0">
                <a:latin typeface="Agency FB" panose="020B0503020202020204" pitchFamily="34" charset="0"/>
              </a:rPr>
              <a:t>Dasar Inheritance</a:t>
            </a:r>
          </a:p>
          <a:p>
            <a:pPr marL="463550" indent="-463550">
              <a:buFont typeface="+mj-lt"/>
              <a:buAutoNum type="arabicParenR"/>
            </a:pPr>
            <a:r>
              <a:rPr lang="en-US" dirty="0">
                <a:latin typeface="Agency FB" panose="020B0503020202020204" pitchFamily="34" charset="0"/>
              </a:rPr>
              <a:t>Overriding</a:t>
            </a:r>
          </a:p>
          <a:p>
            <a:pPr marL="463550" indent="-463550">
              <a:buFont typeface="+mj-lt"/>
              <a:buAutoNum type="arabicParenR"/>
            </a:pPr>
            <a:r>
              <a:rPr lang="en-US" dirty="0">
                <a:latin typeface="Agency FB" panose="020B0503020202020204" pitchFamily="34" charset="0"/>
              </a:rPr>
              <a:t>Encapsulation di Inheritance</a:t>
            </a:r>
          </a:p>
        </p:txBody>
      </p:sp>
    </p:spTree>
    <p:extLst>
      <p:ext uri="{BB962C8B-B14F-4D97-AF65-F5344CB8AC3E}">
        <p14:creationId xmlns:p14="http://schemas.microsoft.com/office/powerpoint/2010/main" val="3697813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 txBox="1">
            <a:spLocks/>
          </p:cNvSpPr>
          <p:nvPr/>
        </p:nvSpPr>
        <p:spPr>
          <a:xfrm>
            <a:off x="-1" y="1"/>
            <a:ext cx="7474857" cy="6292356"/>
          </a:xfrm>
          <a:prstGeom prst="rect">
            <a:avLst/>
          </a:prstGeom>
          <a:pattFill prst="ltDnDiag">
            <a:fgClr>
              <a:srgbClr val="FFC000"/>
            </a:fgClr>
            <a:bgClr>
              <a:schemeClr val="bg1"/>
            </a:bgClr>
          </a:patt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b="1" dirty="0"/>
              <a:t>INHERITANCE</a:t>
            </a:r>
            <a:r>
              <a:rPr lang="en-US" b="1" dirty="0"/>
              <a:t> / PEWARISAN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76168" y="2180636"/>
            <a:ext cx="5415567" cy="2717442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id-ID" sz="2800" b="1" dirty="0"/>
              <a:t>CHILD ...</a:t>
            </a:r>
          </a:p>
          <a:p>
            <a:pPr algn="ctr"/>
            <a:endParaRPr lang="en-US" sz="100" dirty="0"/>
          </a:p>
        </p:txBody>
      </p:sp>
      <p:sp>
        <p:nvSpPr>
          <p:cNvPr id="5" name="Rectangle 4"/>
          <p:cNvSpPr/>
          <p:nvPr/>
        </p:nvSpPr>
        <p:spPr>
          <a:xfrm>
            <a:off x="1833745" y="647701"/>
            <a:ext cx="3696238" cy="4160226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d-ID" sz="2800" b="1" dirty="0"/>
              <a:t>CHILD </a:t>
            </a:r>
            <a:r>
              <a:rPr lang="en-US" sz="2800" b="1" dirty="0"/>
              <a:t>1</a:t>
            </a:r>
            <a:endParaRPr lang="id-ID" sz="2800" b="1" dirty="0"/>
          </a:p>
          <a:p>
            <a:pPr algn="ctr"/>
            <a:endParaRPr lang="id-ID" dirty="0"/>
          </a:p>
          <a:p>
            <a:pPr algn="ctr"/>
            <a:endParaRPr lang="id-ID" sz="4800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75413" y="2322304"/>
            <a:ext cx="3412901" cy="3850783"/>
          </a:xfrm>
          <a:prstGeom prst="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dirty="0"/>
          </a:p>
          <a:p>
            <a:pPr algn="ctr"/>
            <a:endParaRPr lang="id-ID" sz="3600" dirty="0"/>
          </a:p>
          <a:p>
            <a:pPr algn="ctr"/>
            <a:r>
              <a:rPr lang="id-ID" sz="2800" b="1" dirty="0"/>
              <a:t>CHILD </a:t>
            </a:r>
            <a:r>
              <a:rPr lang="en-US" sz="2800" b="1" dirty="0"/>
              <a:t>2</a:t>
            </a:r>
          </a:p>
        </p:txBody>
      </p:sp>
      <p:sp>
        <p:nvSpPr>
          <p:cNvPr id="3" name="Rectangle 2"/>
          <p:cNvSpPr/>
          <p:nvPr/>
        </p:nvSpPr>
        <p:spPr>
          <a:xfrm>
            <a:off x="2104201" y="2425335"/>
            <a:ext cx="3142443" cy="222804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INDUK</a:t>
            </a:r>
          </a:p>
        </p:txBody>
      </p:sp>
      <p:sp>
        <p:nvSpPr>
          <p:cNvPr id="2" name="Rectangle 1"/>
          <p:cNvSpPr/>
          <p:nvPr/>
        </p:nvSpPr>
        <p:spPr>
          <a:xfrm>
            <a:off x="3778952" y="4117722"/>
            <a:ext cx="1219200" cy="384313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R. </a:t>
            </a:r>
            <a:r>
              <a:rPr lang="en-US" dirty="0" err="1"/>
              <a:t>Privat</a:t>
            </a:r>
            <a:endParaRPr lang="en-US" dirty="0"/>
          </a:p>
        </p:txBody>
      </p:sp>
      <p:cxnSp>
        <p:nvCxnSpPr>
          <p:cNvPr id="9" name="Straight Arrow Connector 8"/>
          <p:cNvCxnSpPr>
            <a:stCxn id="2" idx="3"/>
            <a:endCxn id="11" idx="1"/>
          </p:cNvCxnSpPr>
          <p:nvPr/>
        </p:nvCxnSpPr>
        <p:spPr>
          <a:xfrm>
            <a:off x="4998152" y="4309879"/>
            <a:ext cx="894191" cy="978053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5892343" y="5040282"/>
            <a:ext cx="1509485" cy="495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Overriding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92343" y="5666319"/>
            <a:ext cx="1509485" cy="4953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Sub-Class</a:t>
            </a:r>
          </a:p>
        </p:txBody>
      </p:sp>
      <p:cxnSp>
        <p:nvCxnSpPr>
          <p:cNvPr id="22" name="Straight Arrow Connector 21"/>
          <p:cNvCxnSpPr>
            <a:endCxn id="18" idx="1"/>
          </p:cNvCxnSpPr>
          <p:nvPr/>
        </p:nvCxnSpPr>
        <p:spPr>
          <a:xfrm>
            <a:off x="4362450" y="5791200"/>
            <a:ext cx="1529893" cy="122769"/>
          </a:xfrm>
          <a:prstGeom prst="straightConnector1">
            <a:avLst/>
          </a:prstGeom>
          <a:ln w="76200">
            <a:solidFill>
              <a:schemeClr val="tx1">
                <a:lumMod val="95000"/>
                <a:lumOff val="5000"/>
              </a:schemeClr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865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6" grpId="0" animBg="1"/>
      <p:bldP spid="5" grpId="0" animBg="1"/>
      <p:bldP spid="4" grpId="0" animBg="1"/>
      <p:bldP spid="3" grpId="0" animBg="1"/>
      <p:bldP spid="2" grpId="0" animBg="1"/>
      <p:bldP spid="11" grpId="0" animBg="1"/>
      <p:bldP spid="1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1) Dasar </a:t>
            </a:r>
            <a:r>
              <a:rPr lang="id-ID" dirty="0"/>
              <a:t>Inheritance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1079743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Konsep </a:t>
            </a:r>
            <a:r>
              <a:rPr lang="id-ID" dirty="0"/>
              <a:t>Inheritance</a:t>
            </a:r>
            <a:r>
              <a:rPr lang="en-US" dirty="0"/>
              <a:t> / </a:t>
            </a:r>
            <a:r>
              <a:rPr lang="en-US" dirty="0" err="1"/>
              <a:t>Pewarisan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d-ID" dirty="0"/>
              <a:t>M</a:t>
            </a:r>
            <a:r>
              <a:rPr lang="en-US" dirty="0" err="1"/>
              <a:t>emungkinkan</a:t>
            </a:r>
            <a:r>
              <a:rPr lang="en-US" dirty="0"/>
              <a:t> </a:t>
            </a:r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membuat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suatu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kelas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dengan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didasarkan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pada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kelas</a:t>
            </a:r>
            <a:r>
              <a:rPr lang="en-US" dirty="0">
                <a:solidFill>
                  <a:srgbClr val="FF0000"/>
                </a:solidFill>
              </a:rPr>
              <a:t> yang </a:t>
            </a:r>
            <a:r>
              <a:rPr lang="en-US" dirty="0" err="1">
                <a:solidFill>
                  <a:srgbClr val="FF0000"/>
                </a:solidFill>
              </a:rPr>
              <a:t>sudah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ada</a:t>
            </a:r>
            <a:r>
              <a:rPr lang="en-US" dirty="0"/>
              <a:t>, </a:t>
            </a:r>
            <a:r>
              <a:rPr lang="en-US" dirty="0" err="1"/>
              <a:t>sehingga</a:t>
            </a:r>
            <a:r>
              <a:rPr lang="en-US" dirty="0"/>
              <a:t> </a:t>
            </a:r>
            <a:r>
              <a:rPr lang="en-US" dirty="0" err="1"/>
              <a:t>mewarisi</a:t>
            </a:r>
            <a:r>
              <a:rPr lang="en-US" dirty="0"/>
              <a:t> </a:t>
            </a:r>
            <a:r>
              <a:rPr lang="en-US" dirty="0" err="1"/>
              <a:t>semua</a:t>
            </a:r>
            <a:r>
              <a:rPr lang="en-US" dirty="0"/>
              <a:t> </a:t>
            </a:r>
            <a:r>
              <a:rPr lang="en-US" dirty="0" err="1"/>
              <a:t>metode</a:t>
            </a:r>
            <a:r>
              <a:rPr lang="en-US" dirty="0"/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variabelnya</a:t>
            </a:r>
            <a:r>
              <a:rPr lang="en-US" dirty="0"/>
              <a:t>.</a:t>
            </a:r>
          </a:p>
          <a:p>
            <a:r>
              <a:rPr lang="en-US" dirty="0" err="1"/>
              <a:t>Prinsip</a:t>
            </a:r>
            <a:r>
              <a:rPr lang="en-US" dirty="0"/>
              <a:t> encapsulation </a:t>
            </a:r>
            <a:r>
              <a:rPr lang="en-US" dirty="0" err="1"/>
              <a:t>menjadi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filtering </a:t>
            </a:r>
            <a:r>
              <a:rPr lang="en-US" dirty="0" err="1">
                <a:solidFill>
                  <a:srgbClr val="FF0000"/>
                </a:solidFill>
              </a:rPr>
              <a:t>akses</a:t>
            </a:r>
            <a:r>
              <a:rPr lang="en-US" dirty="0"/>
              <a:t> </a:t>
            </a:r>
            <a:r>
              <a:rPr lang="en-US" dirty="0" err="1"/>
              <a:t>dalam</a:t>
            </a:r>
            <a:r>
              <a:rPr lang="en-US" dirty="0"/>
              <a:t> </a:t>
            </a:r>
            <a:r>
              <a:rPr lang="en-US" dirty="0" err="1"/>
              <a:t>penurunan</a:t>
            </a:r>
            <a:r>
              <a:rPr lang="en-US" dirty="0"/>
              <a:t> property </a:t>
            </a:r>
            <a:r>
              <a:rPr lang="en-US" dirty="0" err="1"/>
              <a:t>dan</a:t>
            </a:r>
            <a:r>
              <a:rPr lang="en-US" dirty="0"/>
              <a:t> method.</a:t>
            </a:r>
          </a:p>
          <a:p>
            <a:r>
              <a:rPr lang="en-US" dirty="0" err="1"/>
              <a:t>Tujuan</a:t>
            </a:r>
            <a:r>
              <a:rPr lang="en-US" dirty="0"/>
              <a:t> inheritance:</a:t>
            </a:r>
          </a:p>
          <a:p>
            <a:pPr marL="800100" lvl="1" indent="-344488">
              <a:buFont typeface="+mj-lt"/>
              <a:buAutoNum type="alphaLcParenR"/>
            </a:pPr>
            <a:r>
              <a:rPr lang="en-US" dirty="0" err="1">
                <a:solidFill>
                  <a:srgbClr val="FF0000"/>
                </a:solidFill>
              </a:rPr>
              <a:t>Tidak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perlu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menuliskan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kode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dari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nol</a:t>
            </a:r>
            <a:r>
              <a:rPr lang="en-US" dirty="0"/>
              <a:t> </a:t>
            </a:r>
            <a:r>
              <a:rPr lang="en-US" dirty="0" err="1"/>
              <a:t>karena</a:t>
            </a:r>
            <a:r>
              <a:rPr lang="en-US" dirty="0"/>
              <a:t> </a:t>
            </a:r>
            <a:r>
              <a:rPr lang="en-US" dirty="0" err="1"/>
              <a:t>dapat</a:t>
            </a:r>
            <a:r>
              <a:rPr lang="en-US" dirty="0"/>
              <a:t> </a:t>
            </a:r>
            <a:r>
              <a:rPr lang="en-US" dirty="0" err="1"/>
              <a:t>mendasarkan</a:t>
            </a:r>
            <a:r>
              <a:rPr lang="en-US" dirty="0"/>
              <a:t> </a:t>
            </a:r>
            <a:r>
              <a:rPr lang="en-US" dirty="0" err="1"/>
              <a:t>pada</a:t>
            </a:r>
            <a:r>
              <a:rPr lang="en-US" dirty="0"/>
              <a:t> class yang </a:t>
            </a:r>
            <a:r>
              <a:rPr lang="en-US" dirty="0" err="1"/>
              <a:t>sudah</a:t>
            </a:r>
            <a:r>
              <a:rPr lang="en-US" dirty="0"/>
              <a:t> </a:t>
            </a:r>
            <a:r>
              <a:rPr lang="en-US" dirty="0" err="1"/>
              <a:t>ada</a:t>
            </a:r>
            <a:r>
              <a:rPr lang="en-US" dirty="0"/>
              <a:t>.</a:t>
            </a:r>
          </a:p>
          <a:p>
            <a:pPr marL="800100" lvl="1" indent="-344488">
              <a:buFont typeface="+mj-lt"/>
              <a:buAutoNum type="alphaLcParenR"/>
            </a:pPr>
            <a:r>
              <a:rPr lang="en-US" dirty="0" err="1">
                <a:solidFill>
                  <a:srgbClr val="FF0000"/>
                </a:solidFill>
              </a:rPr>
              <a:t>Menghindari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duplikasi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kode</a:t>
            </a:r>
            <a:r>
              <a:rPr lang="en-US" dirty="0"/>
              <a:t> program (code reuse).</a:t>
            </a:r>
          </a:p>
          <a:p>
            <a:pPr marL="800100" lvl="1" indent="-344488">
              <a:buFont typeface="+mj-lt"/>
              <a:buAutoNum type="alphaLcParenR"/>
            </a:pPr>
            <a:r>
              <a:rPr lang="en-US" dirty="0">
                <a:solidFill>
                  <a:srgbClr val="FF0000"/>
                </a:solidFill>
              </a:rPr>
              <a:t>Class </a:t>
            </a:r>
            <a:r>
              <a:rPr lang="en-US" dirty="0" err="1">
                <a:solidFill>
                  <a:srgbClr val="FF0000"/>
                </a:solidFill>
              </a:rPr>
              <a:t>turunan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tetap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dapat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menambahkan</a:t>
            </a:r>
            <a:r>
              <a:rPr lang="en-US" dirty="0">
                <a:solidFill>
                  <a:srgbClr val="FF0000"/>
                </a:solidFill>
              </a:rPr>
              <a:t> property </a:t>
            </a:r>
            <a:r>
              <a:rPr lang="en-US" dirty="0" err="1">
                <a:solidFill>
                  <a:srgbClr val="FF0000"/>
                </a:solidFill>
              </a:rPr>
              <a:t>baru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method </a:t>
            </a:r>
            <a:r>
              <a:rPr lang="en-US" dirty="0" err="1"/>
              <a:t>instan</a:t>
            </a:r>
            <a:r>
              <a:rPr lang="en-US" dirty="0"/>
              <a:t> </a:t>
            </a:r>
            <a:r>
              <a:rPr lang="en-US" dirty="0" err="1"/>
              <a:t>baru</a:t>
            </a:r>
            <a:r>
              <a:rPr lang="en-US" dirty="0"/>
              <a:t> </a:t>
            </a:r>
            <a:r>
              <a:rPr lang="en-US" dirty="0" err="1"/>
              <a:t>tersendiri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88537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b="1" dirty="0"/>
              <a:t>Analogi </a:t>
            </a:r>
            <a:r>
              <a:rPr lang="id-ID" dirty="0"/>
              <a:t>Inheritance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459935" y="1442506"/>
            <a:ext cx="2057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Kelas</a:t>
            </a:r>
            <a:r>
              <a:rPr lang="en-US" dirty="0"/>
              <a:t> A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Induk</a:t>
            </a:r>
            <a:r>
              <a:rPr lang="en-US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2459935" y="1975906"/>
            <a:ext cx="2057400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variabelInstanZ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metodeX</a:t>
            </a:r>
            <a:r>
              <a:rPr lang="en-US" dirty="0"/>
              <a:t>()</a:t>
            </a:r>
          </a:p>
          <a:p>
            <a:pPr algn="ctr"/>
            <a:r>
              <a:rPr lang="en-US" dirty="0" err="1"/>
              <a:t>metodeY</a:t>
            </a:r>
            <a:r>
              <a:rPr lang="en-US" dirty="0"/>
              <a:t>()</a:t>
            </a:r>
          </a:p>
        </p:txBody>
      </p:sp>
      <p:sp>
        <p:nvSpPr>
          <p:cNvPr id="6" name="Up Arrow 5"/>
          <p:cNvSpPr/>
          <p:nvPr/>
        </p:nvSpPr>
        <p:spPr>
          <a:xfrm>
            <a:off x="3298135" y="3499906"/>
            <a:ext cx="381000" cy="838200"/>
          </a:xfrm>
          <a:prstGeom prst="up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459935" y="4338106"/>
            <a:ext cx="2057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Kelas</a:t>
            </a:r>
            <a:r>
              <a:rPr lang="en-US" dirty="0"/>
              <a:t> B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2459935" y="4871506"/>
            <a:ext cx="2057400" cy="83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2459935" y="5709706"/>
            <a:ext cx="20574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metodeW</a:t>
            </a:r>
            <a:r>
              <a:rPr lang="en-US" dirty="0"/>
              <a:t>()</a:t>
            </a:r>
          </a:p>
        </p:txBody>
      </p:sp>
      <p:sp>
        <p:nvSpPr>
          <p:cNvPr id="10" name="Curved Left Arrow 9"/>
          <p:cNvSpPr/>
          <p:nvPr/>
        </p:nvSpPr>
        <p:spPr>
          <a:xfrm>
            <a:off x="4640864" y="2492502"/>
            <a:ext cx="1295400" cy="3141004"/>
          </a:xfrm>
          <a:prstGeom prst="curvedLeftArrow">
            <a:avLst>
              <a:gd name="adj1" fmla="val 25000"/>
              <a:gd name="adj2" fmla="val 57205"/>
              <a:gd name="adj3" fmla="val 2193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27135" y="2585506"/>
            <a:ext cx="2209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sendirinya</a:t>
            </a:r>
            <a:r>
              <a:rPr lang="en-US" sz="2000" dirty="0"/>
              <a:t> </a:t>
            </a:r>
            <a:r>
              <a:rPr lang="en-US" sz="2000" b="1" dirty="0" err="1"/>
              <a:t>KelasB</a:t>
            </a:r>
            <a:r>
              <a:rPr lang="en-US" sz="2000" b="1" dirty="0"/>
              <a:t> </a:t>
            </a:r>
            <a:r>
              <a:rPr lang="en-US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mewarisi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semua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metode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dan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variabel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instan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 err="1"/>
              <a:t>milik</a:t>
            </a:r>
            <a:r>
              <a:rPr lang="en-US" sz="2000" dirty="0"/>
              <a:t> </a:t>
            </a:r>
            <a:r>
              <a:rPr lang="en-US" sz="2000" b="1" dirty="0" err="1"/>
              <a:t>KelasA</a:t>
            </a:r>
            <a:r>
              <a:rPr lang="en-US" sz="2000" b="1" dirty="0"/>
              <a:t>, </a:t>
            </a:r>
            <a:r>
              <a:rPr lang="en-US" sz="2000" b="1" dirty="0">
                <a:solidFill>
                  <a:srgbClr val="FF0000"/>
                </a:solidFill>
              </a:rPr>
              <a:t>yang </a:t>
            </a:r>
            <a:r>
              <a:rPr lang="en-US" sz="2000" b="1" dirty="0" err="1">
                <a:solidFill>
                  <a:srgbClr val="FF0000"/>
                </a:solidFill>
              </a:rPr>
              <a:t>tidak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bersifat</a:t>
            </a:r>
            <a:r>
              <a:rPr lang="en-US" sz="2000" b="1" dirty="0">
                <a:solidFill>
                  <a:srgbClr val="FF0000"/>
                </a:solidFill>
              </a:rPr>
              <a:t> private.</a:t>
            </a:r>
          </a:p>
        </p:txBody>
      </p:sp>
      <p:sp>
        <p:nvSpPr>
          <p:cNvPr id="12" name="Rectangular Callout 11"/>
          <p:cNvSpPr/>
          <p:nvPr/>
        </p:nvSpPr>
        <p:spPr>
          <a:xfrm>
            <a:off x="5584135" y="5633506"/>
            <a:ext cx="2133600" cy="609600"/>
          </a:xfrm>
          <a:prstGeom prst="wedgeRectCallout">
            <a:avLst>
              <a:gd name="adj1" fmla="val -104507"/>
              <a:gd name="adj2" fmla="val 10233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Metode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tambahan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3" name="Line Callout 1 (Border and Accent Bar) 2"/>
          <p:cNvSpPr/>
          <p:nvPr/>
        </p:nvSpPr>
        <p:spPr>
          <a:xfrm flipH="1">
            <a:off x="99869" y="1619688"/>
            <a:ext cx="1868554" cy="1745628"/>
          </a:xfrm>
          <a:prstGeom prst="accentBorderCallout1">
            <a:avLst>
              <a:gd name="adj1" fmla="val 18750"/>
              <a:gd name="adj2" fmla="val -2479"/>
              <a:gd name="adj3" fmla="val -1737"/>
              <a:gd name="adj4" fmla="val -27985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dgn</a:t>
            </a:r>
            <a:endParaRPr lang="en-US" dirty="0"/>
          </a:p>
          <a:p>
            <a:pPr marL="173038" indent="-173038">
              <a:buFontTx/>
              <a:buChar char="-"/>
            </a:pPr>
            <a:r>
              <a:rPr lang="en-US" sz="2000" b="1" dirty="0" err="1"/>
              <a:t>Kelas</a:t>
            </a:r>
            <a:r>
              <a:rPr lang="en-US" sz="2000" b="1" dirty="0"/>
              <a:t> </a:t>
            </a:r>
            <a:r>
              <a:rPr lang="en-US" sz="2000" b="1" dirty="0" err="1"/>
              <a:t>Induk</a:t>
            </a:r>
            <a:r>
              <a:rPr lang="en-US" sz="2000" b="1" dirty="0"/>
              <a:t>,</a:t>
            </a:r>
          </a:p>
          <a:p>
            <a:pPr marL="173038" indent="-173038">
              <a:buFontTx/>
              <a:buChar char="-"/>
            </a:pPr>
            <a:r>
              <a:rPr lang="en-US" sz="2000" b="1" dirty="0"/>
              <a:t>Parent class,</a:t>
            </a:r>
          </a:p>
          <a:p>
            <a:pPr marL="173038" indent="-173038">
              <a:buFontTx/>
              <a:buChar char="-"/>
            </a:pPr>
            <a:r>
              <a:rPr lang="en-US" sz="2000" b="1" dirty="0"/>
              <a:t>Super class,</a:t>
            </a:r>
          </a:p>
          <a:p>
            <a:pPr marL="173038" indent="-173038">
              <a:buFontTx/>
              <a:buChar char="-"/>
            </a:pPr>
            <a:r>
              <a:rPr lang="en-US" sz="2000" b="1" dirty="0"/>
              <a:t>Base class.</a:t>
            </a:r>
          </a:p>
        </p:txBody>
      </p:sp>
      <p:sp>
        <p:nvSpPr>
          <p:cNvPr id="13" name="Line Callout 1 (Border and Accent Bar) 12"/>
          <p:cNvSpPr/>
          <p:nvPr/>
        </p:nvSpPr>
        <p:spPr>
          <a:xfrm flipH="1">
            <a:off x="99869" y="4452730"/>
            <a:ext cx="1868554" cy="1790376"/>
          </a:xfrm>
          <a:prstGeom prst="accentBorderCallout1">
            <a:avLst>
              <a:gd name="adj1" fmla="val 18750"/>
              <a:gd name="adj2" fmla="val -2479"/>
              <a:gd name="adj3" fmla="val 4336"/>
              <a:gd name="adj4" fmla="val -25149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 err="1"/>
              <a:t>Disebut</a:t>
            </a:r>
            <a:r>
              <a:rPr lang="en-US" dirty="0"/>
              <a:t> </a:t>
            </a:r>
            <a:r>
              <a:rPr lang="en-US" dirty="0" err="1"/>
              <a:t>juga</a:t>
            </a:r>
            <a:r>
              <a:rPr lang="en-US" dirty="0"/>
              <a:t> </a:t>
            </a:r>
            <a:r>
              <a:rPr lang="en-US" dirty="0" err="1"/>
              <a:t>dgn</a:t>
            </a:r>
            <a:endParaRPr lang="en-US" dirty="0"/>
          </a:p>
          <a:p>
            <a:pPr marL="173038" indent="-173038">
              <a:buFontTx/>
              <a:buChar char="-"/>
            </a:pPr>
            <a:r>
              <a:rPr lang="en-US" sz="2000" b="1" dirty="0" err="1"/>
              <a:t>Kelas</a:t>
            </a:r>
            <a:r>
              <a:rPr lang="en-US" sz="2000" b="1" dirty="0"/>
              <a:t> </a:t>
            </a:r>
            <a:r>
              <a:rPr lang="en-US" sz="2000" b="1" dirty="0" err="1"/>
              <a:t>anak</a:t>
            </a:r>
            <a:r>
              <a:rPr lang="en-US" sz="2000" b="1" dirty="0"/>
              <a:t>,</a:t>
            </a:r>
          </a:p>
          <a:p>
            <a:pPr marL="173038" indent="-173038">
              <a:buFontTx/>
              <a:buChar char="-"/>
            </a:pPr>
            <a:r>
              <a:rPr lang="en-US" sz="2000" b="1" dirty="0"/>
              <a:t>Child class,</a:t>
            </a:r>
          </a:p>
          <a:p>
            <a:pPr marL="173038" indent="-173038">
              <a:buFontTx/>
              <a:buChar char="-"/>
            </a:pPr>
            <a:r>
              <a:rPr lang="en-US" sz="2000" b="1" dirty="0"/>
              <a:t>Sub class,</a:t>
            </a:r>
          </a:p>
          <a:p>
            <a:pPr marL="173038" indent="-173038">
              <a:buFontTx/>
              <a:buChar char="-"/>
            </a:pPr>
            <a:r>
              <a:rPr lang="en-US" sz="2000" b="1" dirty="0"/>
              <a:t>Derived class.</a:t>
            </a:r>
          </a:p>
          <a:p>
            <a:pPr marL="173038" indent="-173038">
              <a:buFontTx/>
              <a:buChar char="-"/>
            </a:pPr>
            <a:r>
              <a:rPr lang="en-US" sz="2000" b="1" dirty="0" err="1"/>
              <a:t>Hier</a:t>
            </a:r>
            <a:r>
              <a:rPr lang="en-US" sz="2000" b="1" dirty="0"/>
              <a:t> class</a:t>
            </a:r>
          </a:p>
        </p:txBody>
      </p:sp>
    </p:spTree>
    <p:extLst>
      <p:ext uri="{BB962C8B-B14F-4D97-AF65-F5344CB8AC3E}">
        <p14:creationId xmlns:p14="http://schemas.microsoft.com/office/powerpoint/2010/main" val="3545691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3" grpId="0" animBg="1"/>
      <p:bldP spid="1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76251" y="116943"/>
            <a:ext cx="8319407" cy="1325563"/>
          </a:xfrm>
        </p:spPr>
        <p:txBody>
          <a:bodyPr/>
          <a:lstStyle/>
          <a:p>
            <a:r>
              <a:rPr lang="id-ID" dirty="0"/>
              <a:t>Konsep Dasar Script Inheritance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757569" y="1519282"/>
            <a:ext cx="5080552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Kelas</a:t>
            </a:r>
            <a:r>
              <a:rPr lang="en-US" dirty="0"/>
              <a:t> A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Induk</a:t>
            </a:r>
            <a:r>
              <a:rPr lang="en-US"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1757569" y="2052682"/>
            <a:ext cx="5080552" cy="917438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induk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en-US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US" alt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isi</a:t>
            </a:r>
            <a:r>
              <a:rPr lang="en-US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class </a:t>
            </a:r>
            <a:r>
              <a:rPr lang="en-US" alt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induk</a:t>
            </a:r>
            <a:endParaRPr lang="en-US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4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757569" y="3859696"/>
            <a:ext cx="5080552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Kelas</a:t>
            </a:r>
            <a:r>
              <a:rPr lang="en-US" dirty="0"/>
              <a:t> A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757569" y="4393096"/>
            <a:ext cx="5080552" cy="15251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class</a:t>
            </a:r>
            <a:r>
              <a:rPr lang="en-US" alt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anak</a:t>
            </a: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extends</a:t>
            </a:r>
            <a:r>
              <a:rPr lang="en-US" altLang="en-US" sz="14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induk</a:t>
            </a:r>
            <a:endParaRPr lang="en-US" altLang="en-US" sz="14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en-US" sz="14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</a:t>
            </a:r>
            <a:r>
              <a:rPr lang="en-US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class </a:t>
            </a:r>
            <a:r>
              <a:rPr lang="en-US" alt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anak</a:t>
            </a:r>
            <a:r>
              <a:rPr lang="en-US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bisa</a:t>
            </a:r>
            <a:r>
              <a:rPr lang="en-US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mengakses</a:t>
            </a:r>
            <a:r>
              <a:rPr lang="en-US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endParaRPr lang="en-US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// property </a:t>
            </a:r>
            <a:r>
              <a:rPr lang="en-US" alt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dan</a:t>
            </a:r>
            <a:r>
              <a:rPr lang="en-US" altLang="en-US" sz="16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method class </a:t>
            </a:r>
            <a:r>
              <a:rPr lang="en-US" altLang="en-US" sz="16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induk</a:t>
            </a:r>
            <a:endParaRPr lang="en-US" altLang="en-US" sz="1200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en-US" sz="4000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Up Arrow 13"/>
          <p:cNvSpPr/>
          <p:nvPr/>
        </p:nvSpPr>
        <p:spPr>
          <a:xfrm>
            <a:off x="4107345" y="2984500"/>
            <a:ext cx="381000" cy="875196"/>
          </a:xfrm>
          <a:prstGeom prst="up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316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900" decel="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11" grpId="0" animBg="1"/>
      <p:bldP spid="12" grpId="0" animBg="1"/>
      <p:bldP spid="1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476251" y="116943"/>
            <a:ext cx="8319407" cy="1325563"/>
          </a:xfrm>
        </p:spPr>
        <p:txBody>
          <a:bodyPr/>
          <a:lstStyle/>
          <a:p>
            <a:r>
              <a:rPr lang="id-ID" b="1" dirty="0"/>
              <a:t>Script </a:t>
            </a:r>
            <a:r>
              <a:rPr lang="id-ID" dirty="0"/>
              <a:t>Inheritance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13" name="Rectangle 12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2110154"/>
            <a:ext cx="4362476" cy="418614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7739" y="2110153"/>
            <a:ext cx="4363719" cy="1764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1474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2) </a:t>
            </a:r>
            <a:r>
              <a:rPr lang="en-US" dirty="0" err="1"/>
              <a:t>Overridding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13447141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Konsep </a:t>
            </a:r>
            <a:r>
              <a:rPr lang="en-US" dirty="0" err="1"/>
              <a:t>Overiding</a:t>
            </a:r>
            <a:r>
              <a:rPr lang="id-ID" dirty="0"/>
              <a:t> didalam Inheritance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err="1"/>
              <a:t>Untuk</a:t>
            </a:r>
            <a:r>
              <a:rPr lang="en-US" dirty="0"/>
              <a:t> </a:t>
            </a:r>
            <a:r>
              <a:rPr lang="en-US" dirty="0" err="1"/>
              <a:t>kasus</a:t>
            </a:r>
            <a:r>
              <a:rPr lang="en-US" dirty="0"/>
              <a:t> </a:t>
            </a:r>
            <a:r>
              <a:rPr lang="en-US" dirty="0" err="1">
                <a:solidFill>
                  <a:srgbClr val="FF0000"/>
                </a:solidFill>
              </a:rPr>
              <a:t>jika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ada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persamaan</a:t>
            </a:r>
            <a:r>
              <a:rPr lang="en-US" dirty="0">
                <a:solidFill>
                  <a:srgbClr val="FF0000"/>
                </a:solidFill>
              </a:rPr>
              <a:t> property </a:t>
            </a:r>
            <a:r>
              <a:rPr lang="en-US" dirty="0" err="1">
                <a:solidFill>
                  <a:srgbClr val="FF0000"/>
                </a:solidFill>
              </a:rPr>
              <a:t>dan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atau</a:t>
            </a:r>
            <a:r>
              <a:rPr lang="en-US" dirty="0">
                <a:solidFill>
                  <a:srgbClr val="FF0000"/>
                </a:solidFill>
              </a:rPr>
              <a:t> method </a:t>
            </a:r>
            <a:r>
              <a:rPr lang="en-US" dirty="0" err="1">
                <a:solidFill>
                  <a:srgbClr val="FF0000"/>
                </a:solidFill>
              </a:rPr>
              <a:t>antara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kelas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induk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dan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anak</a:t>
            </a:r>
            <a:r>
              <a:rPr lang="en-US" dirty="0"/>
              <a:t>, </a:t>
            </a:r>
            <a:r>
              <a:rPr lang="en-US" dirty="0" err="1"/>
              <a:t>maka</a:t>
            </a:r>
            <a:r>
              <a:rPr lang="en-US" dirty="0"/>
              <a:t> method </a:t>
            </a:r>
            <a:r>
              <a:rPr lang="en-US" dirty="0" err="1"/>
              <a:t>dan</a:t>
            </a:r>
            <a:r>
              <a:rPr lang="en-US" dirty="0"/>
              <a:t> </a:t>
            </a:r>
            <a:r>
              <a:rPr lang="en-US" dirty="0" err="1"/>
              <a:t>atau</a:t>
            </a:r>
            <a:r>
              <a:rPr lang="en-US" dirty="0"/>
              <a:t> property </a:t>
            </a:r>
            <a:r>
              <a:rPr lang="en-US" dirty="0" err="1">
                <a:solidFill>
                  <a:srgbClr val="FF0000"/>
                </a:solidFill>
              </a:rPr>
              <a:t>akan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mengikuti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 err="1">
                <a:solidFill>
                  <a:srgbClr val="FF0000"/>
                </a:solidFill>
              </a:rPr>
              <a:t>variabel</a:t>
            </a:r>
            <a:r>
              <a:rPr lang="en-US" dirty="0">
                <a:solidFill>
                  <a:srgbClr val="FF0000"/>
                </a:solidFill>
              </a:rPr>
              <a:t> child class</a:t>
            </a:r>
            <a:r>
              <a:rPr lang="en-US" dirty="0"/>
              <a:t>. 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3748454"/>
            <a:ext cx="4389120" cy="277020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754880" y="32138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20" name="Rectangle 19"/>
          <p:cNvSpPr/>
          <p:nvPr/>
        </p:nvSpPr>
        <p:spPr>
          <a:xfrm>
            <a:off x="238298" y="32138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8298" y="3748454"/>
            <a:ext cx="4389120" cy="277020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98" y="3748453"/>
            <a:ext cx="4389120" cy="2586965"/>
          </a:xfrm>
          <a:prstGeom prst="rect">
            <a:avLst/>
          </a:prstGeom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8132" y="3748453"/>
            <a:ext cx="4369575" cy="1759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177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3) Encapsulation di Inheritance</a:t>
            </a:r>
            <a:endParaRPr lang="id-ID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7665620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4064275" y="1847791"/>
            <a:ext cx="2324100" cy="2490315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– Encapsulation</a:t>
            </a:r>
            <a:br>
              <a:rPr lang="en-US" dirty="0"/>
            </a:br>
            <a:r>
              <a:rPr lang="en-US" sz="3200" b="1" dirty="0" err="1">
                <a:solidFill>
                  <a:srgbClr val="0070C0"/>
                </a:solidFill>
              </a:rPr>
              <a:t>konsep</a:t>
            </a:r>
            <a:endParaRPr lang="en-US" b="1" dirty="0">
              <a:solidFill>
                <a:srgbClr val="0070C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72109" y="1442506"/>
            <a:ext cx="2057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Kelas</a:t>
            </a:r>
            <a:r>
              <a:rPr lang="en-US" dirty="0"/>
              <a:t> A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Induk</a:t>
            </a:r>
            <a:r>
              <a:rPr lang="en-US" dirty="0"/>
              <a:t>)</a:t>
            </a:r>
          </a:p>
        </p:txBody>
      </p:sp>
      <p:sp>
        <p:nvSpPr>
          <p:cNvPr id="5" name="Rectangle 4"/>
          <p:cNvSpPr/>
          <p:nvPr/>
        </p:nvSpPr>
        <p:spPr>
          <a:xfrm>
            <a:off x="472109" y="1975906"/>
            <a:ext cx="2057400" cy="15240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variabelInstanZ</a:t>
            </a:r>
            <a:endParaRPr lang="en-US" dirty="0"/>
          </a:p>
          <a:p>
            <a:pPr algn="ctr"/>
            <a:endParaRPr lang="en-US" dirty="0"/>
          </a:p>
          <a:p>
            <a:pPr algn="ctr"/>
            <a:r>
              <a:rPr lang="en-US" dirty="0" err="1"/>
              <a:t>metodeX</a:t>
            </a:r>
            <a:r>
              <a:rPr lang="en-US" dirty="0"/>
              <a:t>()</a:t>
            </a:r>
          </a:p>
          <a:p>
            <a:pPr algn="ctr"/>
            <a:r>
              <a:rPr lang="en-US" dirty="0" err="1"/>
              <a:t>metodeY</a:t>
            </a:r>
            <a:r>
              <a:rPr lang="en-US" dirty="0"/>
              <a:t>()</a:t>
            </a:r>
          </a:p>
        </p:txBody>
      </p:sp>
      <p:sp>
        <p:nvSpPr>
          <p:cNvPr id="6" name="Up Arrow 5"/>
          <p:cNvSpPr/>
          <p:nvPr/>
        </p:nvSpPr>
        <p:spPr>
          <a:xfrm>
            <a:off x="1310309" y="3499906"/>
            <a:ext cx="381000" cy="838200"/>
          </a:xfrm>
          <a:prstGeom prst="upArrow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472109" y="4338106"/>
            <a:ext cx="20574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Kelas</a:t>
            </a:r>
            <a:r>
              <a:rPr lang="en-US" dirty="0"/>
              <a:t> B</a:t>
            </a:r>
          </a:p>
          <a:p>
            <a:pPr algn="ctr"/>
            <a:r>
              <a:rPr lang="en-US" dirty="0"/>
              <a:t>(</a:t>
            </a:r>
            <a:r>
              <a:rPr lang="en-US" dirty="0" err="1"/>
              <a:t>Kelas</a:t>
            </a:r>
            <a:r>
              <a:rPr lang="en-US" dirty="0"/>
              <a:t> </a:t>
            </a:r>
            <a:r>
              <a:rPr lang="en-US" dirty="0" err="1"/>
              <a:t>Anak</a:t>
            </a:r>
            <a:r>
              <a:rPr lang="en-US" dirty="0"/>
              <a:t>)</a:t>
            </a:r>
          </a:p>
        </p:txBody>
      </p:sp>
      <p:sp>
        <p:nvSpPr>
          <p:cNvPr id="8" name="Rectangle 7"/>
          <p:cNvSpPr/>
          <p:nvPr/>
        </p:nvSpPr>
        <p:spPr>
          <a:xfrm>
            <a:off x="472109" y="4871506"/>
            <a:ext cx="2057400" cy="838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72109" y="5709706"/>
            <a:ext cx="2057400" cy="457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/>
              <a:t>metodeW</a:t>
            </a:r>
            <a:r>
              <a:rPr lang="en-US" dirty="0"/>
              <a:t>()</a:t>
            </a:r>
          </a:p>
        </p:txBody>
      </p:sp>
      <p:sp>
        <p:nvSpPr>
          <p:cNvPr id="10" name="Curved Left Arrow 9"/>
          <p:cNvSpPr/>
          <p:nvPr/>
        </p:nvSpPr>
        <p:spPr>
          <a:xfrm>
            <a:off x="2653038" y="2492502"/>
            <a:ext cx="1295400" cy="3141004"/>
          </a:xfrm>
          <a:prstGeom prst="curvedLeftArrow">
            <a:avLst>
              <a:gd name="adj1" fmla="val 25000"/>
              <a:gd name="adj2" fmla="val 57205"/>
              <a:gd name="adj3" fmla="val 21931"/>
            </a:avLst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178575" y="1940795"/>
            <a:ext cx="2209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err="1"/>
              <a:t>Dengan</a:t>
            </a:r>
            <a:r>
              <a:rPr lang="en-US" sz="2000" dirty="0"/>
              <a:t> </a:t>
            </a:r>
            <a:r>
              <a:rPr lang="en-US" sz="2000" dirty="0" err="1"/>
              <a:t>sendirinya</a:t>
            </a:r>
            <a:r>
              <a:rPr lang="en-US" sz="2000" dirty="0"/>
              <a:t> </a:t>
            </a:r>
            <a:r>
              <a:rPr lang="en-US" sz="2000" b="1" dirty="0" err="1"/>
              <a:t>KelasB</a:t>
            </a:r>
            <a:r>
              <a:rPr lang="en-US" sz="2000" b="1" dirty="0"/>
              <a:t> </a:t>
            </a:r>
            <a:r>
              <a:rPr lang="en-US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mewarisi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semua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metode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dan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variabel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b="1" dirty="0" err="1">
                <a:solidFill>
                  <a:schemeClr val="tx2">
                    <a:lumMod val="60000"/>
                    <a:lumOff val="40000"/>
                  </a:schemeClr>
                </a:solidFill>
              </a:rPr>
              <a:t>instan</a:t>
            </a:r>
            <a:r>
              <a:rPr lang="en-US" sz="2000" b="1" dirty="0">
                <a:solidFill>
                  <a:schemeClr val="tx2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2000" dirty="0" err="1"/>
              <a:t>milik</a:t>
            </a:r>
            <a:r>
              <a:rPr lang="en-US" sz="2000" dirty="0"/>
              <a:t> </a:t>
            </a:r>
            <a:r>
              <a:rPr lang="en-US" sz="2000" b="1" dirty="0" err="1"/>
              <a:t>KelasA</a:t>
            </a:r>
            <a:r>
              <a:rPr lang="en-US" sz="2000" b="1" dirty="0"/>
              <a:t>, </a:t>
            </a:r>
            <a:r>
              <a:rPr lang="en-US" sz="2000" b="1" dirty="0">
                <a:solidFill>
                  <a:srgbClr val="FF0000"/>
                </a:solidFill>
              </a:rPr>
              <a:t>yang </a:t>
            </a:r>
            <a:r>
              <a:rPr lang="en-US" sz="2000" b="1" dirty="0" err="1">
                <a:solidFill>
                  <a:srgbClr val="FF0000"/>
                </a:solidFill>
              </a:rPr>
              <a:t>tidak</a:t>
            </a:r>
            <a:r>
              <a:rPr lang="en-US" sz="2000" b="1" dirty="0">
                <a:solidFill>
                  <a:srgbClr val="FF0000"/>
                </a:solidFill>
              </a:rPr>
              <a:t> </a:t>
            </a:r>
            <a:r>
              <a:rPr lang="en-US" sz="2000" b="1" dirty="0" err="1">
                <a:solidFill>
                  <a:srgbClr val="FF0000"/>
                </a:solidFill>
              </a:rPr>
              <a:t>bersifat</a:t>
            </a:r>
            <a:r>
              <a:rPr lang="en-US" sz="2000" b="1" dirty="0">
                <a:solidFill>
                  <a:srgbClr val="FF0000"/>
                </a:solidFill>
              </a:rPr>
              <a:t> private.</a:t>
            </a:r>
          </a:p>
        </p:txBody>
      </p:sp>
      <p:sp>
        <p:nvSpPr>
          <p:cNvPr id="12" name="Rectangular Callout 11"/>
          <p:cNvSpPr/>
          <p:nvPr/>
        </p:nvSpPr>
        <p:spPr>
          <a:xfrm>
            <a:off x="3596309" y="5633506"/>
            <a:ext cx="2133600" cy="609600"/>
          </a:xfrm>
          <a:prstGeom prst="wedgeRectCallout">
            <a:avLst>
              <a:gd name="adj1" fmla="val -104507"/>
              <a:gd name="adj2" fmla="val 10233"/>
            </a:avLst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solidFill>
                  <a:schemeClr val="tx1"/>
                </a:solidFill>
              </a:rPr>
              <a:t>Metode</a:t>
            </a:r>
            <a:r>
              <a:rPr lang="en-US" b="1" dirty="0">
                <a:solidFill>
                  <a:schemeClr val="tx1"/>
                </a:solidFill>
              </a:rPr>
              <a:t> </a:t>
            </a:r>
            <a:r>
              <a:rPr lang="en-US" b="1" dirty="0" err="1">
                <a:solidFill>
                  <a:schemeClr val="tx1"/>
                </a:solidFill>
              </a:rPr>
              <a:t>tambahan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761091" y="3757453"/>
            <a:ext cx="2324100" cy="580653"/>
          </a:xfrm>
          <a:prstGeom prst="rect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ENCAPSULATION</a:t>
            </a:r>
          </a:p>
        </p:txBody>
      </p:sp>
      <p:cxnSp>
        <p:nvCxnSpPr>
          <p:cNvPr id="16" name="Straight Arrow Connector 15"/>
          <p:cNvCxnSpPr>
            <a:stCxn id="13" idx="3"/>
            <a:endCxn id="25" idx="2"/>
          </p:cNvCxnSpPr>
          <p:nvPr/>
        </p:nvCxnSpPr>
        <p:spPr>
          <a:xfrm flipV="1">
            <a:off x="6388375" y="2470370"/>
            <a:ext cx="1534766" cy="622579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Rectangle 24"/>
          <p:cNvSpPr/>
          <p:nvPr/>
        </p:nvSpPr>
        <p:spPr>
          <a:xfrm>
            <a:off x="6761091" y="1889717"/>
            <a:ext cx="2324100" cy="58065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</a:rPr>
              <a:t>INHERITANCE</a:t>
            </a:r>
          </a:p>
        </p:txBody>
      </p:sp>
      <p:cxnSp>
        <p:nvCxnSpPr>
          <p:cNvPr id="27" name="Straight Arrow Connector 26"/>
          <p:cNvCxnSpPr>
            <a:stCxn id="11" idx="3"/>
            <a:endCxn id="14" idx="0"/>
          </p:cNvCxnSpPr>
          <p:nvPr/>
        </p:nvCxnSpPr>
        <p:spPr>
          <a:xfrm>
            <a:off x="6388375" y="3064180"/>
            <a:ext cx="1534766" cy="69327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7102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9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/>
      <p:bldP spid="12" grpId="0" animBg="1"/>
      <p:bldP spid="14" grpId="0" animBg="1"/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– Encapsulation</a:t>
            </a:r>
            <a:br>
              <a:rPr lang="en-US" dirty="0"/>
            </a:br>
            <a:r>
              <a:rPr lang="en-US" sz="3200" b="1" dirty="0">
                <a:solidFill>
                  <a:srgbClr val="0070C0"/>
                </a:solidFill>
              </a:rPr>
              <a:t>script – </a:t>
            </a:r>
            <a:r>
              <a:rPr lang="en-US" sz="3200" b="1" dirty="0">
                <a:solidFill>
                  <a:srgbClr val="FF0000"/>
                </a:solidFill>
              </a:rPr>
              <a:t>public property </a:t>
            </a:r>
            <a:r>
              <a:rPr lang="en-US" sz="3200" b="1" dirty="0" err="1">
                <a:solidFill>
                  <a:srgbClr val="FF0000"/>
                </a:solidFill>
              </a:rPr>
              <a:t>dan</a:t>
            </a:r>
            <a:r>
              <a:rPr lang="en-US" sz="3200" b="1" dirty="0">
                <a:solidFill>
                  <a:srgbClr val="FF0000"/>
                </a:solidFill>
              </a:rPr>
              <a:t> method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119" y="2110154"/>
            <a:ext cx="4368339" cy="2314575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260" y="2110154"/>
            <a:ext cx="4362616" cy="259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7577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– Encapsulation</a:t>
            </a:r>
            <a:br>
              <a:rPr lang="en-US" dirty="0"/>
            </a:br>
            <a:r>
              <a:rPr lang="en-US" sz="3200" b="1" dirty="0">
                <a:solidFill>
                  <a:srgbClr val="0070C0"/>
                </a:solidFill>
              </a:rPr>
              <a:t>script – </a:t>
            </a:r>
            <a:r>
              <a:rPr lang="en-US" sz="3200" b="1" dirty="0">
                <a:solidFill>
                  <a:srgbClr val="FF0000"/>
                </a:solidFill>
              </a:rPr>
              <a:t>protected property </a:t>
            </a:r>
            <a:r>
              <a:rPr lang="en-US" sz="3200" b="1" dirty="0" err="1">
                <a:solidFill>
                  <a:srgbClr val="FF0000"/>
                </a:solidFill>
              </a:rPr>
              <a:t>dan</a:t>
            </a:r>
            <a:r>
              <a:rPr lang="en-US" sz="3200" b="1" dirty="0">
                <a:solidFill>
                  <a:srgbClr val="FF0000"/>
                </a:solidFill>
              </a:rPr>
              <a:t> method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05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2400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Property </a:t>
            </a:r>
            <a:r>
              <a:rPr lang="en-US" sz="2400" b="1" dirty="0" err="1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dengan</a:t>
            </a:r>
            <a:r>
              <a:rPr lang="en-US" sz="2400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 encapsulation-protected </a:t>
            </a:r>
            <a:r>
              <a:rPr lang="en-US" sz="2400" b="1" dirty="0" err="1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tidak</a:t>
            </a:r>
            <a:r>
              <a:rPr lang="en-US" sz="2400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dapat</a:t>
            </a:r>
            <a:r>
              <a:rPr lang="en-US" sz="2400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diakses</a:t>
            </a:r>
            <a:r>
              <a:rPr lang="en-US" sz="2400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oleh</a:t>
            </a:r>
            <a:r>
              <a:rPr lang="en-US" sz="2400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kelas</a:t>
            </a:r>
            <a:r>
              <a:rPr lang="en-US" sz="2400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turunan</a:t>
            </a:r>
            <a:r>
              <a:rPr lang="en-US" sz="2400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secara</a:t>
            </a:r>
            <a:r>
              <a:rPr lang="en-US" sz="2400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 </a:t>
            </a:r>
            <a:r>
              <a:rPr lang="en-US" sz="2400" b="1" dirty="0" err="1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langsung</a:t>
            </a:r>
            <a:r>
              <a:rPr lang="en-US" sz="2400" b="1" dirty="0">
                <a:solidFill>
                  <a:srgbClr val="C00000"/>
                </a:solidFill>
                <a:latin typeface="+mj-lt"/>
                <a:cs typeface="Courier New" panose="02070309020205020404" pitchFamily="49" charset="0"/>
              </a:rPr>
              <a:t>.</a:t>
            </a:r>
            <a:endParaRPr lang="id-ID" sz="2400" b="1" dirty="0">
              <a:solidFill>
                <a:srgbClr val="C00000"/>
              </a:solidFill>
              <a:latin typeface="+mj-lt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2338" y="2110155"/>
            <a:ext cx="4389120" cy="186549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56" y="2110153"/>
            <a:ext cx="4389120" cy="268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4034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– Encapsulation</a:t>
            </a:r>
            <a:br>
              <a:rPr lang="en-US" dirty="0"/>
            </a:br>
            <a:r>
              <a:rPr lang="en-US" sz="3200" b="1" dirty="0">
                <a:solidFill>
                  <a:srgbClr val="0070C0"/>
                </a:solidFill>
              </a:rPr>
              <a:t>script – </a:t>
            </a:r>
            <a:r>
              <a:rPr lang="en-US" sz="3200" b="1" dirty="0">
                <a:solidFill>
                  <a:srgbClr val="FF0000"/>
                </a:solidFill>
              </a:rPr>
              <a:t>protected method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843" y="2110154"/>
            <a:ext cx="4362615" cy="138884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/>
          <a:srcRect t="-326" b="2"/>
          <a:stretch/>
        </p:blipFill>
        <p:spPr>
          <a:xfrm>
            <a:off x="125756" y="2110154"/>
            <a:ext cx="4389120" cy="22930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038660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Inheritance – Encapsulation</a:t>
            </a:r>
            <a:br>
              <a:rPr lang="en-US" dirty="0"/>
            </a:br>
            <a:r>
              <a:rPr lang="en-US" sz="3200" b="1" dirty="0">
                <a:solidFill>
                  <a:srgbClr val="0070C0"/>
                </a:solidFill>
              </a:rPr>
              <a:t>script – </a:t>
            </a:r>
            <a:r>
              <a:rPr lang="en-US" sz="3200" b="1" dirty="0">
                <a:solidFill>
                  <a:srgbClr val="FF0000"/>
                </a:solidFill>
              </a:rPr>
              <a:t>private property </a:t>
            </a:r>
            <a:r>
              <a:rPr lang="en-US" sz="3200" b="1" dirty="0" err="1">
                <a:solidFill>
                  <a:srgbClr val="FF0000"/>
                </a:solidFill>
              </a:rPr>
              <a:t>dan</a:t>
            </a:r>
            <a:r>
              <a:rPr lang="en-US" sz="3200" b="1" dirty="0">
                <a:solidFill>
                  <a:srgbClr val="FF0000"/>
                </a:solidFill>
              </a:rPr>
              <a:t> method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642338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642338" y="1575582"/>
            <a:ext cx="4389120" cy="534572"/>
          </a:xfrm>
          <a:prstGeom prst="rect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O</a:t>
            </a:r>
            <a:r>
              <a:rPr lang="id-ID" sz="2800" b="1" dirty="0"/>
              <a:t>UTPUT</a:t>
            </a:r>
            <a:endParaRPr lang="en-US" sz="2800" b="1" dirty="0"/>
          </a:p>
        </p:txBody>
      </p:sp>
      <p:sp>
        <p:nvSpPr>
          <p:cNvPr id="6" name="Rectangle 5"/>
          <p:cNvSpPr/>
          <p:nvPr/>
        </p:nvSpPr>
        <p:spPr>
          <a:xfrm>
            <a:off x="125756" y="1575582"/>
            <a:ext cx="4389120" cy="534572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SCRIPT</a:t>
            </a:r>
          </a:p>
        </p:txBody>
      </p:sp>
      <p:sp>
        <p:nvSpPr>
          <p:cNvPr id="7" name="Rectangle 6"/>
          <p:cNvSpPr/>
          <p:nvPr/>
        </p:nvSpPr>
        <p:spPr>
          <a:xfrm>
            <a:off x="125756" y="2110154"/>
            <a:ext cx="4389120" cy="4186143"/>
          </a:xfrm>
          <a:prstGeom prst="rect">
            <a:avLst/>
          </a:prstGeom>
          <a:solidFill>
            <a:schemeClr val="bg2"/>
          </a:solidFill>
          <a:ln>
            <a:solidFill>
              <a:srgbClr val="0070C0"/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endParaRPr lang="id-ID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8842" y="2110153"/>
            <a:ext cx="4362616" cy="23823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756" y="2110153"/>
            <a:ext cx="4389120" cy="26600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1196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Referensi (1)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1442506"/>
            <a:ext cx="8826500" cy="5076151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Andrea Tar. 2012. PHP and MySQL 24-Hour Trainer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Brett McLaughlin. 2012. PHP &amp; MySQL- The Missing Manual. USA-Brett McLaughlin.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Brett McLaughlin. 2013. PHP &amp; MySQL- The Missing Manual, 2nd Edition. USA-Brett McLaughlin.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Deitel</a:t>
            </a:r>
            <a:r>
              <a:rPr lang="en-US" sz="1780" dirty="0"/>
              <a:t>, Harvey and Paul </a:t>
            </a:r>
            <a:r>
              <a:rPr lang="en-US" sz="1780" dirty="0" err="1"/>
              <a:t>Deitel</a:t>
            </a:r>
            <a:r>
              <a:rPr lang="en-US" sz="1780" dirty="0"/>
              <a:t>. 2007. Internet &amp; World Wide Web, How to Program. 4th Edition. Prentice Hall</a:t>
            </a:r>
            <a:endParaRPr lang="it-IT" sz="1780" dirty="0"/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Fadila, Armando dkk. Pro PHP Application Performance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Gilmore, W. Jason.  2010. Beginning </a:t>
            </a:r>
            <a:r>
              <a:rPr lang="en-US" sz="1780" dirty="0" err="1"/>
              <a:t>php</a:t>
            </a:r>
            <a:r>
              <a:rPr lang="en-US" sz="1780" dirty="0"/>
              <a:t> and </a:t>
            </a:r>
            <a:r>
              <a:rPr lang="en-US" sz="1780" dirty="0" err="1"/>
              <a:t>mysql</a:t>
            </a:r>
            <a:r>
              <a:rPr lang="en-US" sz="1780" dirty="0"/>
              <a:t> from novice to professional, 4th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Head First PHP &amp;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Kroenke, David. 2013. Database Processing 12th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Lamandi</a:t>
            </a:r>
            <a:r>
              <a:rPr lang="en-US" sz="1780" dirty="0"/>
              <a:t>, BB </a:t>
            </a:r>
            <a:r>
              <a:rPr lang="en-US" sz="1780" dirty="0" err="1"/>
              <a:t>dkk</a:t>
            </a:r>
            <a:r>
              <a:rPr lang="en-US" sz="1780" dirty="0"/>
              <a:t>. 2009. AJAX and PHP Building Modern Web Applications, 2nd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LesLie. Web Standards Mastering HTML5, CSS3, dan XML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Loka Dwiartara. Menyelam dan Menaklukan Samudra PHP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Michcel, Lorna Jane. PHP Web Services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Mysql Official. 2016. MySQL 5.7 Reference Manual-en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Official. php_manual_en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PHP6 and MySQL Bible by Steve </a:t>
            </a:r>
            <a:r>
              <a:rPr lang="en-US" sz="1780" dirty="0" err="1"/>
              <a:t>Suehring</a:t>
            </a:r>
            <a:endParaRPr lang="id-ID" sz="1780" dirty="0"/>
          </a:p>
        </p:txBody>
      </p:sp>
    </p:spTree>
    <p:extLst>
      <p:ext uri="{BB962C8B-B14F-4D97-AF65-F5344CB8AC3E}">
        <p14:creationId xmlns:p14="http://schemas.microsoft.com/office/powerpoint/2010/main" val="16021333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d-ID" dirty="0"/>
              <a:t>Referensi (2)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000" y="1442506"/>
            <a:ext cx="8839200" cy="5076151"/>
          </a:xfrm>
        </p:spPr>
        <p:txBody>
          <a:bodyPr>
            <a:noAutofit/>
          </a:bodyPr>
          <a:lstStyle/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Power, David. PHP Solutions, 3rd Edition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Powers, David. 2010. PHP Solutions Dynamic Web Design Made Easy 2nd Edition. </a:t>
            </a:r>
            <a:r>
              <a:rPr lang="en-US" sz="1780" dirty="0" err="1"/>
              <a:t>Friendsoft-Apress</a:t>
            </a:r>
            <a:r>
              <a:rPr lang="en-US" sz="1780" dirty="0"/>
              <a:t> company-USA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/>
              <a:t>Robert W. Sebesta. 2014. Programming the World Wide Web 2014 (8th Edition). Addison Wesley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Rochkin Mark. 2013. Expert PHP and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Rosihanari. Basic PHP Tutorial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Ruehning, dkk. php_mysql_javascript__html5_all-in-one_for_dummies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Sams.Sams.Teach.Yourself.PHP.MySQL.and.Apache.All-in-One.ISBN0672326205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Solichin, Achmad. Pemrograman Web dengan PHP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Tatro, Kvein, dkk. 2013. Programming PHP, 3rd Edition. USA-O'REILLY Media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Tutorialpoints.com - mysql tutorial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Valade</a:t>
            </a:r>
            <a:r>
              <a:rPr lang="en-US" sz="1780" dirty="0"/>
              <a:t>, Janet. PHP &amp; MySQL Web Development All-in-One Desk Reference For Dummies. </a:t>
            </a:r>
            <a:r>
              <a:rPr lang="en-US" sz="1780" dirty="0" err="1"/>
              <a:t>CanadaWiley</a:t>
            </a:r>
            <a:r>
              <a:rPr lang="en-US" sz="1780" dirty="0"/>
              <a:t> </a:t>
            </a:r>
            <a:r>
              <a:rPr lang="en-US" sz="1780" dirty="0" err="1"/>
              <a:t>Publishing,Inc</a:t>
            </a:r>
            <a:r>
              <a:rPr lang="en-US" sz="1780" dirty="0"/>
              <a:t> 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W3Schools Offline 2018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Wahono, Romi Satria. dasar-php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Welling, Luke and Laura Thomson. 2015. Welling php mysql web 3rd. USA - Sam Publishing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it-IT" sz="1780" dirty="0"/>
              <a:t>Widigdo, Anon Kuncoro. 2003. php dan mysql</a:t>
            </a:r>
          </a:p>
          <a:p>
            <a:pPr marL="355600" indent="-355600">
              <a:lnSpc>
                <a:spcPct val="100000"/>
              </a:lnSpc>
              <a:spcBef>
                <a:spcPts val="0"/>
              </a:spcBef>
            </a:pPr>
            <a:r>
              <a:rPr lang="en-US" sz="1780" dirty="0" err="1"/>
              <a:t>Zandstra</a:t>
            </a:r>
            <a:r>
              <a:rPr lang="en-US" sz="1780" dirty="0"/>
              <a:t>, Matt. PHP Objects, Patterns, and Practice, 4th Edition</a:t>
            </a:r>
            <a:endParaRPr lang="it-IT" sz="1780" dirty="0"/>
          </a:p>
        </p:txBody>
      </p:sp>
    </p:spTree>
    <p:extLst>
      <p:ext uri="{BB962C8B-B14F-4D97-AF65-F5344CB8AC3E}">
        <p14:creationId xmlns:p14="http://schemas.microsoft.com/office/powerpoint/2010/main" val="9236295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3773</TotalTime>
  <Words>738</Words>
  <Application>Microsoft Office PowerPoint</Application>
  <PresentationFormat>On-screen Show (4:3)</PresentationFormat>
  <Paragraphs>154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8" baseType="lpstr">
      <vt:lpstr>Adobe Heiti Std R</vt:lpstr>
      <vt:lpstr>Agency FB</vt:lpstr>
      <vt:lpstr>Arial</vt:lpstr>
      <vt:lpstr>Calibri</vt:lpstr>
      <vt:lpstr>Calibri Light</vt:lpstr>
      <vt:lpstr>Courier New</vt:lpstr>
      <vt:lpstr>Rockwell</vt:lpstr>
      <vt:lpstr>Segoe UI Semilight</vt:lpstr>
      <vt:lpstr>Wingdings</vt:lpstr>
      <vt:lpstr>Office Theme</vt:lpstr>
      <vt:lpstr>PEMROGRAMAN BERORIENTASI OBJEK 04. Inheritance</vt:lpstr>
      <vt:lpstr>04. Inheritance</vt:lpstr>
      <vt:lpstr>PowerPoint Presentation</vt:lpstr>
      <vt:lpstr>1) Dasar Inheritance</vt:lpstr>
      <vt:lpstr>Konsep Inheritance / Pewarisan</vt:lpstr>
      <vt:lpstr>Analogi Inheritance</vt:lpstr>
      <vt:lpstr>Konsep Dasar Script Inheritance</vt:lpstr>
      <vt:lpstr>Script Inheritance</vt:lpstr>
      <vt:lpstr>2) Overridding</vt:lpstr>
      <vt:lpstr>Konsep Overiding didalam Inheritance</vt:lpstr>
      <vt:lpstr>3) Encapsulation di Inheritance</vt:lpstr>
      <vt:lpstr>Inheritance – Encapsulation konsep</vt:lpstr>
      <vt:lpstr>Inheritance – Encapsulation script – public property dan method</vt:lpstr>
      <vt:lpstr>Inheritance – Encapsulation script – protected property dan method</vt:lpstr>
      <vt:lpstr>Inheritance – Encapsulation script – protected method</vt:lpstr>
      <vt:lpstr>Inheritance – Encapsulation script – private property dan method</vt:lpstr>
      <vt:lpstr>Referensi (1)</vt:lpstr>
      <vt:lpstr>Referensi (2)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TP</cp:lastModifiedBy>
  <cp:revision>2631</cp:revision>
  <dcterms:created xsi:type="dcterms:W3CDTF">2016-09-02T03:38:50Z</dcterms:created>
  <dcterms:modified xsi:type="dcterms:W3CDTF">2018-10-01T05:49:48Z</dcterms:modified>
</cp:coreProperties>
</file>