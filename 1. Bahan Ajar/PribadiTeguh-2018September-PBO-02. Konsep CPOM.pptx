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518" r:id="rId3"/>
    <p:sldId id="520" r:id="rId4"/>
    <p:sldId id="519" r:id="rId5"/>
    <p:sldId id="435" r:id="rId6"/>
    <p:sldId id="436" r:id="rId7"/>
    <p:sldId id="521" r:id="rId8"/>
    <p:sldId id="440" r:id="rId9"/>
    <p:sldId id="441" r:id="rId10"/>
    <p:sldId id="522" r:id="rId11"/>
    <p:sldId id="443" r:id="rId12"/>
    <p:sldId id="444" r:id="rId13"/>
    <p:sldId id="523" r:id="rId14"/>
    <p:sldId id="446" r:id="rId15"/>
    <p:sldId id="447" r:id="rId16"/>
    <p:sldId id="524" r:id="rId17"/>
    <p:sldId id="449" r:id="rId18"/>
    <p:sldId id="450" r:id="rId19"/>
    <p:sldId id="525" r:id="rId20"/>
    <p:sldId id="468" r:id="rId21"/>
    <p:sldId id="469" r:id="rId22"/>
    <p:sldId id="470" r:id="rId23"/>
    <p:sldId id="471" r:id="rId24"/>
    <p:sldId id="411" r:id="rId25"/>
    <p:sldId id="41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31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9/17/2018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17/09/2018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0C1C7-BF9C-4053-A71D-7636933128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5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0C1C7-BF9C-4053-A71D-7636933128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97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0C1C7-BF9C-4053-A71D-7636933128B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50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B640A9-E75A-4093-9667-ABD2E89C2AD7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2ED595-A960-4EC6-A66D-72370EA79B32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C5A0C2-4FFC-43FE-AF3C-49817869F3D9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7F55E-A8D4-4080-A68C-7A89EBC25F20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72E93-39AD-4D63-9BA1-B8B65F6D6F1E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B00AE5-724C-4F13-BE78-A3FF537246D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DAB42-6B87-4E41-8A58-64139319C82D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EF7F0A-8D0E-4B48-9292-DB29D3890617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88A89-9A6A-43B3-8B27-1C5F834123E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PEMROGRAMAN BERORIENTASI OBJEK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</a:t>
            </a:r>
            <a:r>
              <a:rPr lang="en-US" sz="3600" dirty="0">
                <a:solidFill>
                  <a:srgbClr val="0070C0"/>
                </a:solidFill>
              </a:rPr>
              <a:t>2</a:t>
            </a:r>
            <a:r>
              <a:rPr lang="id-ID" sz="3600" dirty="0">
                <a:solidFill>
                  <a:srgbClr val="0070C0"/>
                </a:solidFill>
              </a:rPr>
              <a:t>. </a:t>
            </a:r>
            <a:r>
              <a:rPr lang="en-US" sz="3500" dirty="0">
                <a:solidFill>
                  <a:srgbClr val="0070C0"/>
                </a:solidFill>
              </a:rPr>
              <a:t>Class, Object, Property, Method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02. Class, Object, Property, Method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 err="1">
                <a:latin typeface="Agency FB" panose="020B0503020202020204" pitchFamily="34" charset="0"/>
              </a:rPr>
              <a:t>Konsep</a:t>
            </a:r>
            <a:r>
              <a:rPr lang="en-US" b="1" dirty="0">
                <a:latin typeface="Agency FB" panose="020B0503020202020204" pitchFamily="34" charset="0"/>
              </a:rPr>
              <a:t> Dasar COPM</a:t>
            </a:r>
            <a:endParaRPr lang="id-ID" b="1" dirty="0">
              <a:latin typeface="Agency FB" panose="020B0503020202020204" pitchFamily="34" charset="0"/>
            </a:endParaRP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C</a:t>
            </a:r>
            <a:r>
              <a:rPr lang="en-US" dirty="0">
                <a:latin typeface="Agency FB" panose="020B0503020202020204" pitchFamily="34" charset="0"/>
              </a:rPr>
              <a:t>lass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O</a:t>
            </a:r>
            <a:r>
              <a:rPr lang="en-US" dirty="0">
                <a:latin typeface="Agency FB" panose="020B0503020202020204" pitchFamily="34" charset="0"/>
              </a:rPr>
              <a:t>bject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P</a:t>
            </a:r>
            <a:r>
              <a:rPr lang="en-US" dirty="0">
                <a:latin typeface="Agency FB" panose="020B0503020202020204" pitchFamily="34" charset="0"/>
              </a:rPr>
              <a:t>roperty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M</a:t>
            </a:r>
            <a:r>
              <a:rPr lang="en-US" dirty="0">
                <a:latin typeface="Agency FB" panose="020B0503020202020204" pitchFamily="34" charset="0"/>
              </a:rPr>
              <a:t>ethod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Script</a:t>
            </a:r>
            <a:r>
              <a:rPr lang="en-US" dirty="0">
                <a:latin typeface="Agency FB" panose="020B0503020202020204" pitchFamily="34" charset="0"/>
              </a:rPr>
              <a:t> COPM</a:t>
            </a:r>
          </a:p>
        </p:txBody>
      </p:sp>
    </p:spTree>
    <p:extLst>
      <p:ext uri="{BB962C8B-B14F-4D97-AF65-F5344CB8AC3E}">
        <p14:creationId xmlns:p14="http://schemas.microsoft.com/office/powerpoint/2010/main" val="369781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04C-F9B4-4F5E-84AF-9859D708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Konsep</a:t>
            </a:r>
            <a:r>
              <a:rPr lang="en-US" dirty="0"/>
              <a:t> Dasar COPM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CA0F-D58A-4F63-A7DA-9DCC8E33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708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d-ID" dirty="0"/>
              <a:t>Dalam konsep OOP dikenal konsep dasar </a:t>
            </a:r>
            <a:r>
              <a:rPr lang="id-ID" dirty="0">
                <a:solidFill>
                  <a:srgbClr val="FF0000"/>
                </a:solidFill>
              </a:rPr>
              <a:t>C</a:t>
            </a:r>
            <a:r>
              <a:rPr lang="id-ID" dirty="0"/>
              <a:t>lass, </a:t>
            </a:r>
            <a:r>
              <a:rPr lang="id-ID" dirty="0">
                <a:solidFill>
                  <a:srgbClr val="FF0000"/>
                </a:solidFill>
              </a:rPr>
              <a:t>O</a:t>
            </a:r>
            <a:r>
              <a:rPr lang="id-ID" dirty="0"/>
              <a:t>bjek, </a:t>
            </a:r>
            <a:r>
              <a:rPr lang="id-ID" dirty="0">
                <a:solidFill>
                  <a:srgbClr val="FF0000"/>
                </a:solidFill>
              </a:rPr>
              <a:t>P</a:t>
            </a:r>
            <a:r>
              <a:rPr lang="id-ID" dirty="0"/>
              <a:t>roperty, </a:t>
            </a:r>
            <a:r>
              <a:rPr lang="id-ID" dirty="0">
                <a:solidFill>
                  <a:srgbClr val="FF0000"/>
                </a:solidFill>
              </a:rPr>
              <a:t>M</a:t>
            </a:r>
            <a:r>
              <a:rPr lang="id-ID" dirty="0"/>
              <a:t>ethod (</a:t>
            </a:r>
            <a:r>
              <a:rPr lang="id-ID" b="1" dirty="0">
                <a:solidFill>
                  <a:srgbClr val="FF0000"/>
                </a:solidFill>
              </a:rPr>
              <a:t>COPM</a:t>
            </a:r>
            <a:r>
              <a:rPr lang="id-ID" dirty="0"/>
              <a:t>).</a:t>
            </a:r>
          </a:p>
          <a:p>
            <a:pPr algn="just"/>
            <a:r>
              <a:rPr lang="id-ID" dirty="0"/>
              <a:t>COPM akan digunakan </a:t>
            </a:r>
            <a:r>
              <a:rPr lang="id-ID" dirty="0">
                <a:solidFill>
                  <a:srgbClr val="FF0000"/>
                </a:solidFill>
              </a:rPr>
              <a:t>untuk penerapan pembuatan cetakan-cetakan</a:t>
            </a:r>
            <a:r>
              <a:rPr lang="id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346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Analogi </a:t>
            </a:r>
            <a:r>
              <a:rPr lang="id-ID" dirty="0"/>
              <a:t>Class, Objek, Property, Method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9550" y="4182738"/>
            <a:ext cx="2935872" cy="235141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d-ID" sz="2400" b="1" dirty="0"/>
          </a:p>
          <a:p>
            <a:pPr algn="r"/>
            <a:endParaRPr lang="id-ID" sz="2400" b="1" dirty="0"/>
          </a:p>
          <a:p>
            <a:pPr algn="r"/>
            <a:r>
              <a:rPr lang="en-US" sz="2400" b="1" dirty="0"/>
              <a:t>OBJEK</a:t>
            </a:r>
            <a:endParaRPr lang="id-ID" sz="2400" b="1" dirty="0"/>
          </a:p>
          <a:p>
            <a:pPr algn="r"/>
            <a:endParaRPr lang="id-ID" sz="2400" b="1" dirty="0"/>
          </a:p>
          <a:p>
            <a:pPr algn="ctr"/>
            <a:r>
              <a:rPr lang="id-ID" b="1" dirty="0"/>
              <a:t>‘Hasil dari cetakan/ instansiasi dari class’</a:t>
            </a:r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4830182" y="4392040"/>
            <a:ext cx="4022271" cy="214211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d-ID" sz="2400" b="1" dirty="0"/>
          </a:p>
          <a:p>
            <a:pPr algn="r"/>
            <a:r>
              <a:rPr lang="en-US" sz="2400" b="1" dirty="0"/>
              <a:t>METHOD/</a:t>
            </a:r>
          </a:p>
          <a:p>
            <a:pPr algn="r"/>
            <a:r>
              <a:rPr lang="en-US" sz="2400" b="1" dirty="0"/>
              <a:t>BEHAVIOUR</a:t>
            </a:r>
            <a:r>
              <a:rPr lang="id-ID" sz="2400" b="1" dirty="0"/>
              <a:t>/</a:t>
            </a:r>
          </a:p>
          <a:p>
            <a:pPr algn="r"/>
            <a:r>
              <a:rPr lang="id-ID" sz="2400" b="1" dirty="0"/>
              <a:t>FUNCTION</a:t>
            </a:r>
          </a:p>
          <a:p>
            <a:pPr algn="r"/>
            <a:endParaRPr lang="id-ID" sz="2400" b="1" dirty="0"/>
          </a:p>
          <a:p>
            <a:pPr algn="ctr"/>
            <a:r>
              <a:rPr lang="id-ID" sz="2000" b="1" dirty="0">
                <a:solidFill>
                  <a:prstClr val="white"/>
                </a:solidFill>
              </a:rPr>
              <a:t>“yang bisa dilakukan class”</a:t>
            </a:r>
            <a:endParaRPr lang="en-US" sz="24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4830182" y="1299501"/>
            <a:ext cx="4022269" cy="295068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id-ID" sz="2400" b="1" dirty="0"/>
          </a:p>
          <a:p>
            <a:pPr algn="r"/>
            <a:endParaRPr lang="id-ID" sz="2400" b="1" dirty="0"/>
          </a:p>
          <a:p>
            <a:pPr algn="r"/>
            <a:r>
              <a:rPr lang="en-US" sz="2400" b="1" dirty="0"/>
              <a:t>ATRIBUT/</a:t>
            </a:r>
          </a:p>
          <a:p>
            <a:pPr algn="r"/>
            <a:r>
              <a:rPr lang="en-US" sz="2400" b="1" dirty="0"/>
              <a:t>PROPERTY</a:t>
            </a:r>
            <a:r>
              <a:rPr lang="id-ID" sz="2400" b="1" dirty="0"/>
              <a:t>/</a:t>
            </a:r>
          </a:p>
          <a:p>
            <a:pPr algn="r"/>
            <a:r>
              <a:rPr lang="id-ID" sz="2400" b="1" dirty="0"/>
              <a:t>VARIABEL</a:t>
            </a:r>
          </a:p>
          <a:p>
            <a:pPr algn="r"/>
            <a:endParaRPr lang="id-ID" sz="3200" b="1" dirty="0"/>
          </a:p>
          <a:p>
            <a:pPr algn="ctr"/>
            <a:r>
              <a:rPr lang="id-ID" sz="2000" b="1" dirty="0"/>
              <a:t>“yang dimiliki class”</a:t>
            </a:r>
            <a:endParaRPr lang="en-US" sz="24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437310" y="1846081"/>
            <a:ext cx="2517500" cy="19559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CLASS</a:t>
            </a:r>
            <a:endParaRPr lang="id-ID" sz="2400" b="1" dirty="0"/>
          </a:p>
          <a:p>
            <a:pPr algn="ctr"/>
            <a:r>
              <a:rPr lang="id-ID" sz="2000" b="1" dirty="0"/>
              <a:t>‘wujud bagian dari cetakan’</a:t>
            </a:r>
            <a:endParaRPr lang="en-US" sz="2400" b="1" dirty="0"/>
          </a:p>
          <a:p>
            <a:pPr algn="ctr"/>
            <a:endParaRPr lang="en-US" sz="1000" b="1" dirty="0"/>
          </a:p>
          <a:p>
            <a:pPr algn="ctr"/>
            <a:endParaRPr lang="en-US" sz="2000" b="1" dirty="0"/>
          </a:p>
          <a:p>
            <a:pPr algn="ctr"/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4956314" y="1416834"/>
            <a:ext cx="2041248" cy="21866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Warna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CC_Mesin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Merk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Tahun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Ukuran_roda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9" name="Straight Arrow Connector 8"/>
          <p:cNvCxnSpPr>
            <a:stCxn id="15" idx="3"/>
            <a:endCxn id="8" idx="1"/>
          </p:cNvCxnSpPr>
          <p:nvPr/>
        </p:nvCxnSpPr>
        <p:spPr>
          <a:xfrm flipV="1">
            <a:off x="2841932" y="2510139"/>
            <a:ext cx="2114382" cy="834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56314" y="4586341"/>
            <a:ext cx="2041248" cy="1581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Maju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Mundur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Belok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Menanjak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2" name="Straight Arrow Connector 11"/>
          <p:cNvCxnSpPr>
            <a:stCxn id="15" idx="3"/>
            <a:endCxn id="11" idx="1"/>
          </p:cNvCxnSpPr>
          <p:nvPr/>
        </p:nvCxnSpPr>
        <p:spPr>
          <a:xfrm>
            <a:off x="2841932" y="3344689"/>
            <a:ext cx="2114382" cy="20323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38540" y="2816535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memiliki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417959" y="4187355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50188" y="2980977"/>
            <a:ext cx="2291744" cy="7274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mobil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7309" y="4236577"/>
            <a:ext cx="1496265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Mobil_ku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310" y="4999169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Mobil_messi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7310" y="4617873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Mobil_esti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310" y="5377047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0" name="Straight Connector 19"/>
          <p:cNvCxnSpPr>
            <a:stCxn id="15" idx="2"/>
            <a:endCxn id="16" idx="3"/>
          </p:cNvCxnSpPr>
          <p:nvPr/>
        </p:nvCxnSpPr>
        <p:spPr>
          <a:xfrm>
            <a:off x="1696060" y="3708401"/>
            <a:ext cx="237514" cy="702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5" idx="2"/>
            <a:endCxn id="18" idx="3"/>
          </p:cNvCxnSpPr>
          <p:nvPr/>
        </p:nvCxnSpPr>
        <p:spPr>
          <a:xfrm>
            <a:off x="1696060" y="3708401"/>
            <a:ext cx="237514" cy="1083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5" idx="2"/>
            <a:endCxn id="17" idx="3"/>
          </p:cNvCxnSpPr>
          <p:nvPr/>
        </p:nvCxnSpPr>
        <p:spPr>
          <a:xfrm>
            <a:off x="1696060" y="3708401"/>
            <a:ext cx="237514" cy="1464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5" idx="2"/>
            <a:endCxn id="19" idx="3"/>
          </p:cNvCxnSpPr>
          <p:nvPr/>
        </p:nvCxnSpPr>
        <p:spPr>
          <a:xfrm>
            <a:off x="1696060" y="3708401"/>
            <a:ext cx="237514" cy="18427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4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Analogi </a:t>
            </a:r>
            <a:r>
              <a:rPr lang="id-ID" dirty="0"/>
              <a:t>Class, Objek, Property, Method </a:t>
            </a:r>
            <a:endParaRPr lang="id-ID" sz="3200" dirty="0">
              <a:solidFill>
                <a:srgbClr val="0070C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89627" y="4258938"/>
            <a:ext cx="2729665" cy="162201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OBJEK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0182" y="4241503"/>
            <a:ext cx="4150045" cy="176452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METHOD/</a:t>
            </a:r>
          </a:p>
          <a:p>
            <a:pPr algn="r"/>
            <a:r>
              <a:rPr lang="en-US" sz="2400" b="1" dirty="0"/>
              <a:t>BEHAVIOUR/</a:t>
            </a:r>
          </a:p>
          <a:p>
            <a:pPr algn="r"/>
            <a:r>
              <a:rPr lang="en-US" sz="2400" b="1" dirty="0"/>
              <a:t>FUNCTION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30183" y="2074157"/>
            <a:ext cx="4150044" cy="19677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ATRIBUT/</a:t>
            </a:r>
          </a:p>
          <a:p>
            <a:pPr algn="r"/>
            <a:r>
              <a:rPr lang="en-US" sz="2400" b="1" dirty="0"/>
              <a:t>PROPERTY/</a:t>
            </a:r>
          </a:p>
          <a:p>
            <a:pPr algn="r"/>
            <a:r>
              <a:rPr lang="en-US" sz="2400" b="1" dirty="0"/>
              <a:t>VARIABEL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310" y="2665333"/>
            <a:ext cx="2517500" cy="12128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</a:t>
            </a:r>
          </a:p>
          <a:p>
            <a:pPr algn="ctr"/>
            <a:endParaRPr lang="en-US" sz="1000" b="1" dirty="0"/>
          </a:p>
          <a:p>
            <a:pPr algn="ctr"/>
            <a:endParaRPr lang="en-US" sz="2000" b="1" dirty="0"/>
          </a:p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956314" y="2186609"/>
            <a:ext cx="2186608" cy="16916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Merk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Pemilik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Ukuran_layar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Warna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9" name="Straight Arrow Connector 28"/>
          <p:cNvCxnSpPr>
            <a:stCxn id="34" idx="3"/>
            <a:endCxn id="28" idx="1"/>
          </p:cNvCxnSpPr>
          <p:nvPr/>
        </p:nvCxnSpPr>
        <p:spPr>
          <a:xfrm flipV="1">
            <a:off x="2841932" y="3032412"/>
            <a:ext cx="2114382" cy="388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956314" y="4322201"/>
            <a:ext cx="2186608" cy="1581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Hidup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Mati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Restart</a:t>
            </a: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Buka</a:t>
            </a:r>
            <a:r>
              <a:rPr lang="en-US" sz="2000" dirty="0">
                <a:solidFill>
                  <a:schemeClr val="tx1"/>
                </a:solidFill>
              </a:rPr>
              <a:t> Program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31" name="Straight Arrow Connector 30"/>
          <p:cNvCxnSpPr>
            <a:stCxn id="34" idx="3"/>
            <a:endCxn id="30" idx="1"/>
          </p:cNvCxnSpPr>
          <p:nvPr/>
        </p:nvCxnSpPr>
        <p:spPr>
          <a:xfrm>
            <a:off x="2841932" y="3420889"/>
            <a:ext cx="2114382" cy="1692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417959" y="3057177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memiliki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417960" y="4119627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550188" y="3057177"/>
            <a:ext cx="2291744" cy="7274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laptop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310" y="4312777"/>
            <a:ext cx="1550516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Laptop_tp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37310" y="5074797"/>
            <a:ext cx="1550516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Laptop_tyas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7310" y="4694073"/>
            <a:ext cx="1550516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Laptop_andi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37310" y="5453247"/>
            <a:ext cx="1550516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39" name="Straight Connector 38"/>
          <p:cNvCxnSpPr>
            <a:stCxn id="34" idx="2"/>
            <a:endCxn id="35" idx="3"/>
          </p:cNvCxnSpPr>
          <p:nvPr/>
        </p:nvCxnSpPr>
        <p:spPr>
          <a:xfrm>
            <a:off x="1696060" y="3784601"/>
            <a:ext cx="291766" cy="702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4" idx="2"/>
            <a:endCxn id="37" idx="3"/>
          </p:cNvCxnSpPr>
          <p:nvPr/>
        </p:nvCxnSpPr>
        <p:spPr>
          <a:xfrm>
            <a:off x="1696060" y="3784601"/>
            <a:ext cx="291766" cy="1083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2"/>
            <a:endCxn id="36" idx="3"/>
          </p:cNvCxnSpPr>
          <p:nvPr/>
        </p:nvCxnSpPr>
        <p:spPr>
          <a:xfrm>
            <a:off x="1696060" y="3784601"/>
            <a:ext cx="291766" cy="1464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4" idx="2"/>
            <a:endCxn id="38" idx="3"/>
          </p:cNvCxnSpPr>
          <p:nvPr/>
        </p:nvCxnSpPr>
        <p:spPr>
          <a:xfrm>
            <a:off x="1696060" y="3784601"/>
            <a:ext cx="291766" cy="18427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42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F634-129F-4A7D-A267-FFE940F5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Class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B66A-5CFE-426A-90EC-10B51A009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0831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Konsep </a:t>
            </a:r>
            <a:r>
              <a:rPr lang="id-ID" dirty="0">
                <a:solidFill>
                  <a:prstClr val="black"/>
                </a:solidFill>
              </a:rPr>
              <a:t>Class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blueprint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sebuah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objek</a:t>
            </a:r>
            <a:r>
              <a:rPr lang="en-US" dirty="0"/>
              <a:t>.</a:t>
            </a:r>
          </a:p>
          <a:p>
            <a:r>
              <a:rPr lang="en-US" dirty="0" err="1"/>
              <a:t>Seluruh</a:t>
            </a:r>
            <a:r>
              <a:rPr lang="en-US" dirty="0"/>
              <a:t> </a:t>
            </a:r>
            <a:r>
              <a:rPr lang="en-US" i="1" dirty="0"/>
              <a:t>property</a:t>
            </a:r>
            <a:r>
              <a:rPr lang="en-US" dirty="0"/>
              <a:t> </a:t>
            </a:r>
            <a:r>
              <a:rPr lang="en-US" dirty="0" err="1"/>
              <a:t>dan</a:t>
            </a:r>
            <a:r>
              <a:rPr lang="en-US" dirty="0"/>
              <a:t> </a:t>
            </a:r>
            <a:r>
              <a:rPr lang="en-US" i="1" dirty="0"/>
              <a:t>method</a:t>
            </a:r>
            <a:r>
              <a:rPr lang="en-US" dirty="0"/>
              <a:t> </a:t>
            </a:r>
            <a:r>
              <a:rPr lang="en-US" dirty="0" err="1"/>
              <a:t>nantinya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 </a:t>
            </a:r>
            <a:r>
              <a:rPr lang="en-US" i="1" dirty="0" err="1"/>
              <a:t>objek</a:t>
            </a:r>
            <a:r>
              <a:rPr lang="en-US" i="1" dirty="0"/>
              <a:t>, </a:t>
            </a:r>
            <a:r>
              <a:rPr lang="en-US" i="1" dirty="0" err="1"/>
              <a:t>bukan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</a:t>
            </a:r>
            <a:r>
              <a:rPr lang="en-US" i="1" dirty="0" err="1"/>
              <a:t>dalam</a:t>
            </a:r>
            <a:r>
              <a:rPr lang="en-US" i="1" dirty="0"/>
              <a:t> class</a:t>
            </a:r>
            <a:r>
              <a:rPr lang="en-US" dirty="0"/>
              <a:t>.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proses </a:t>
            </a:r>
            <a:r>
              <a:rPr lang="en-US" b="1" i="1" dirty="0" err="1"/>
              <a:t>instansiasi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,</a:t>
            </a:r>
            <a:r>
              <a:rPr lang="id-ID" dirty="0"/>
              <a:t> </a:t>
            </a:r>
            <a:r>
              <a:rPr lang="en-US" dirty="0" err="1"/>
              <a:t>seluruh</a:t>
            </a:r>
            <a:r>
              <a:rPr lang="id-ID" dirty="0"/>
              <a:t> </a:t>
            </a:r>
            <a:r>
              <a:rPr lang="en-US" i="1" dirty="0"/>
              <a:t>property</a:t>
            </a:r>
            <a:r>
              <a:rPr lang="id-ID" i="1" dirty="0"/>
              <a:t> </a:t>
            </a:r>
            <a:r>
              <a:rPr lang="en-US" dirty="0" err="1"/>
              <a:t>dan</a:t>
            </a:r>
            <a:r>
              <a:rPr lang="id-ID" dirty="0"/>
              <a:t> </a:t>
            </a:r>
            <a:r>
              <a:rPr lang="en-US" i="1" dirty="0"/>
              <a:t>method</a:t>
            </a:r>
            <a:r>
              <a:rPr lang="id-ID" i="1" dirty="0"/>
              <a:t> </a:t>
            </a:r>
            <a:r>
              <a:rPr lang="en-US" dirty="0" err="1"/>
              <a:t>akan</a:t>
            </a:r>
            <a:r>
              <a:rPr lang="id-ID" dirty="0"/>
              <a:t> </a:t>
            </a:r>
            <a:r>
              <a:rPr lang="en-US" dirty="0"/>
              <a:t>“</a:t>
            </a:r>
            <a:r>
              <a:rPr lang="en-US" i="1" dirty="0" err="1"/>
              <a:t>dicopy</a:t>
            </a:r>
            <a:r>
              <a:rPr lang="en-US" dirty="0"/>
              <a:t>”</a:t>
            </a:r>
            <a:r>
              <a:rPr lang="id-ID" dirty="0"/>
              <a:t> </a:t>
            </a:r>
            <a:r>
              <a:rPr lang="en-US" dirty="0" err="1"/>
              <a:t>kedalam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id-ID" dirty="0"/>
              <a:t> class</a:t>
            </a:r>
            <a:r>
              <a:rPr lang="en-US" dirty="0"/>
              <a:t> =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variable</a:t>
            </a:r>
            <a:r>
              <a:rPr lang="en-US" sz="2000" dirty="0"/>
              <a:t>.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346978" y="4773239"/>
            <a:ext cx="2517500" cy="1212881"/>
            <a:chOff x="437310" y="2665333"/>
            <a:chExt cx="2517500" cy="1212881"/>
          </a:xfrm>
        </p:grpSpPr>
        <p:sp>
          <p:nvSpPr>
            <p:cNvPr id="6" name="Rounded Rectangle 5"/>
            <p:cNvSpPr/>
            <p:nvPr/>
          </p:nvSpPr>
          <p:spPr>
            <a:xfrm>
              <a:off x="437310" y="2665333"/>
              <a:ext cx="2517500" cy="1212881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CLASS</a:t>
              </a:r>
            </a:p>
            <a:p>
              <a:pPr algn="ctr"/>
              <a:endParaRPr lang="en-US" sz="1000" b="1" dirty="0"/>
            </a:p>
            <a:p>
              <a:pPr algn="ctr"/>
              <a:endParaRPr lang="en-US" sz="2000" b="1" dirty="0"/>
            </a:p>
            <a:p>
              <a:pPr algn="ctr"/>
              <a:endParaRPr lang="en-US" sz="24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50188" y="3057177"/>
              <a:ext cx="2291744" cy="7274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 err="1">
                  <a:solidFill>
                    <a:schemeClr val="tx1"/>
                  </a:solidFill>
                </a:rPr>
                <a:t>mobil</a:t>
              </a:r>
              <a:endParaRPr lang="en-US" sz="5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722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Script </a:t>
            </a:r>
            <a:r>
              <a:rPr lang="id-ID" dirty="0">
                <a:solidFill>
                  <a:prstClr val="black"/>
                </a:solidFill>
              </a:rPr>
              <a:t>Class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2836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368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class 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mobil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354" y="2264181"/>
            <a:ext cx="4138246" cy="253711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namaclass {</a:t>
            </a: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29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EA01-F4A0-46C9-8B77-008B8051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Object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EBD06-7988-4BB9-B0FC-ECA39B36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221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b="1" dirty="0">
                <a:solidFill>
                  <a:prstClr val="black"/>
                </a:solidFill>
              </a:rPr>
              <a:t>Konsep </a:t>
            </a:r>
            <a:r>
              <a:rPr lang="id-ID" dirty="0">
                <a:solidFill>
                  <a:prstClr val="black"/>
                </a:solidFill>
              </a:rPr>
              <a:t>Objek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S</a:t>
            </a:r>
            <a:r>
              <a:rPr lang="en-US" dirty="0" err="1"/>
              <a:t>esuatu</a:t>
            </a:r>
            <a:r>
              <a:rPr lang="en-US" dirty="0"/>
              <a:t> yang </a:t>
            </a:r>
            <a:r>
              <a:rPr lang="id-ID" dirty="0">
                <a:solidFill>
                  <a:srgbClr val="FF0000"/>
                </a:solidFill>
              </a:rPr>
              <a:t>instansiasi</a:t>
            </a:r>
            <a:r>
              <a:rPr lang="id-ID" dirty="0"/>
              <a:t>/ </a:t>
            </a:r>
            <a:r>
              <a:rPr lang="en-US" dirty="0" err="1"/>
              <a:t>diciptakan</a:t>
            </a:r>
            <a:r>
              <a:rPr lang="id-ID" dirty="0"/>
              <a:t>/ </a:t>
            </a:r>
            <a:r>
              <a:rPr lang="id-ID" dirty="0">
                <a:solidFill>
                  <a:srgbClr val="FF0000"/>
                </a:solidFill>
              </a:rPr>
              <a:t>hasil cetakan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dari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id-ID" dirty="0"/>
              <a:t> objek </a:t>
            </a:r>
            <a:r>
              <a:rPr lang="en-US" dirty="0"/>
              <a:t>=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variable</a:t>
            </a:r>
            <a:r>
              <a:rPr lang="en-US" sz="2000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474537" y="4606764"/>
            <a:ext cx="2665182" cy="162201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OBJEK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6701" y="3144909"/>
            <a:ext cx="2517500" cy="12128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</a:t>
            </a:r>
          </a:p>
          <a:p>
            <a:pPr algn="ctr"/>
            <a:endParaRPr lang="en-US" sz="1000" b="1" dirty="0"/>
          </a:p>
          <a:p>
            <a:pPr algn="ctr"/>
            <a:endParaRPr lang="en-US" sz="2000" b="1" dirty="0"/>
          </a:p>
          <a:p>
            <a:pPr algn="ctr"/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4689579" y="3536753"/>
            <a:ext cx="2291744" cy="7274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mobil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22218" y="4660603"/>
            <a:ext cx="1496265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Mobil_ku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22219" y="5423195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Mobil_messi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22219" y="5041899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Mobil_esti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22219" y="5801073"/>
            <a:ext cx="1496264" cy="3481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1" name="Straight Connector 10"/>
          <p:cNvCxnSpPr>
            <a:stCxn id="6" idx="2"/>
            <a:endCxn id="7" idx="3"/>
          </p:cNvCxnSpPr>
          <p:nvPr/>
        </p:nvCxnSpPr>
        <p:spPr>
          <a:xfrm flipH="1">
            <a:off x="3118483" y="4264177"/>
            <a:ext cx="2716968" cy="570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2"/>
            <a:endCxn id="9" idx="3"/>
          </p:cNvCxnSpPr>
          <p:nvPr/>
        </p:nvCxnSpPr>
        <p:spPr>
          <a:xfrm flipH="1">
            <a:off x="3118483" y="4264177"/>
            <a:ext cx="2716968" cy="9518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2"/>
            <a:endCxn id="8" idx="3"/>
          </p:cNvCxnSpPr>
          <p:nvPr/>
        </p:nvCxnSpPr>
        <p:spPr>
          <a:xfrm flipH="1">
            <a:off x="3118483" y="4264177"/>
            <a:ext cx="2716968" cy="13331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2"/>
            <a:endCxn id="10" idx="3"/>
          </p:cNvCxnSpPr>
          <p:nvPr/>
        </p:nvCxnSpPr>
        <p:spPr>
          <a:xfrm flipH="1">
            <a:off x="3118483" y="4264177"/>
            <a:ext cx="2716968" cy="17109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36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Script </a:t>
            </a:r>
            <a:r>
              <a:rPr lang="id-ID" dirty="0">
                <a:solidFill>
                  <a:prstClr val="black"/>
                </a:solidFill>
              </a:rPr>
              <a:t>Objek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2836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368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class </a:t>
            </a:r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$mobil_ku = new mobil;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$mobil_esti = new mobil;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$mobil_messi = new mobil;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354" y="4946073"/>
            <a:ext cx="4138246" cy="7834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$namaobjek = new namaclass;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1354" y="2264181"/>
            <a:ext cx="4138246" cy="253711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namaclass {</a:t>
            </a: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09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C5D4-C5FD-4A4F-BC65-F1435F4A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Property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9A764-A0ED-4F80-8497-2AB15347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283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Konsep </a:t>
            </a:r>
            <a:r>
              <a:rPr lang="id-ID" dirty="0">
                <a:solidFill>
                  <a:prstClr val="black"/>
                </a:solidFill>
              </a:rPr>
              <a:t>Property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Disebut juga dengan atribut atau variabel.</a:t>
            </a:r>
          </a:p>
          <a:p>
            <a:r>
              <a:rPr lang="id-ID" dirty="0"/>
              <a:t>Sesuatu </a:t>
            </a:r>
            <a:r>
              <a:rPr lang="id-ID" dirty="0">
                <a:solidFill>
                  <a:srgbClr val="FF0000"/>
                </a:solidFill>
              </a:rPr>
              <a:t>yang dimiliki </a:t>
            </a:r>
            <a:r>
              <a:rPr lang="id-ID" dirty="0"/>
              <a:t>oleh sebuah </a:t>
            </a:r>
            <a:r>
              <a:rPr lang="id-ID" dirty="0">
                <a:solidFill>
                  <a:srgbClr val="FF0000"/>
                </a:solidFill>
              </a:rPr>
              <a:t>class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id-ID" dirty="0"/>
              <a:t> property </a:t>
            </a:r>
            <a:r>
              <a:rPr lang="en-US" dirty="0"/>
              <a:t>=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variable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4830182" y="3482617"/>
            <a:ext cx="4022269" cy="23952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ATRIBUT/</a:t>
            </a:r>
          </a:p>
          <a:p>
            <a:pPr algn="r"/>
            <a:r>
              <a:rPr lang="en-US" sz="2400" b="1" dirty="0"/>
              <a:t>PROPERTY/</a:t>
            </a:r>
          </a:p>
          <a:p>
            <a:pPr algn="r"/>
            <a:r>
              <a:rPr lang="en-US" sz="2400" b="1" dirty="0"/>
              <a:t>VARIABEL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309" y="4073793"/>
            <a:ext cx="2517500" cy="12128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</a:t>
            </a:r>
          </a:p>
          <a:p>
            <a:pPr algn="ctr"/>
            <a:endParaRPr lang="en-US" sz="1000" b="1" dirty="0"/>
          </a:p>
          <a:p>
            <a:pPr algn="ctr"/>
            <a:endParaRPr lang="en-US" sz="2000" b="1" dirty="0"/>
          </a:p>
          <a:p>
            <a:pPr algn="ctr"/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4956313" y="3595069"/>
            <a:ext cx="2041248" cy="21866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Warna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CC_Mesin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Merk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Tahun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Ukuran_roda</a:t>
            </a:r>
          </a:p>
          <a:p>
            <a:pPr marL="457200" indent="-457200">
              <a:buAutoNum type="arabicPeriod"/>
            </a:pPr>
            <a:r>
              <a:rPr lang="fi-FI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18" name="Straight Arrow Connector 17"/>
          <p:cNvCxnSpPr>
            <a:stCxn id="20" idx="3"/>
            <a:endCxn id="17" idx="1"/>
          </p:cNvCxnSpPr>
          <p:nvPr/>
        </p:nvCxnSpPr>
        <p:spPr>
          <a:xfrm flipV="1">
            <a:off x="2841931" y="4688374"/>
            <a:ext cx="2114382" cy="1409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17959" y="4575046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memiliki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50187" y="4465637"/>
            <a:ext cx="2291744" cy="7274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mobil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43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Script </a:t>
            </a:r>
            <a:r>
              <a:rPr lang="id-ID" dirty="0">
                <a:solidFill>
                  <a:prstClr val="black"/>
                </a:solidFill>
              </a:rPr>
              <a:t>Property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2836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368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class </a:t>
            </a:r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$warna;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var $CC_mesin;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var $merk;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$mobil_ku = new mobil;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$mobil_esti = new mobil;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$mobil_messi = new mobil;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354" y="2264181"/>
            <a:ext cx="4138246" cy="253711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namaclass {</a:t>
            </a: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6582" y="2763897"/>
            <a:ext cx="3519054" cy="567866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itchFamily="49" charset="0"/>
                <a:cs typeface="Courier New" pitchFamily="49" charset="0"/>
              </a:rPr>
              <a:t>Var $namavariabel;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1354" y="4946073"/>
            <a:ext cx="4138246" cy="7834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$namaobjek = new namaclass;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97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F76-B258-4D9C-91AC-785B6D1D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Method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E2579-5A1F-441C-A8EC-EE17D5C92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1152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Konsep </a:t>
            </a:r>
            <a:r>
              <a:rPr lang="id-ID" dirty="0">
                <a:solidFill>
                  <a:prstClr val="black"/>
                </a:solidFill>
              </a:rPr>
              <a:t>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Disebut juga dengan behaviour atau function.</a:t>
            </a:r>
          </a:p>
          <a:p>
            <a:r>
              <a:rPr lang="id-ID" dirty="0"/>
              <a:t>Sesuatu </a:t>
            </a:r>
            <a:r>
              <a:rPr lang="id-ID" dirty="0">
                <a:solidFill>
                  <a:srgbClr val="FF0000"/>
                </a:solidFill>
              </a:rPr>
              <a:t>yang bisa dilakukan </a:t>
            </a:r>
            <a:r>
              <a:rPr lang="id-ID" dirty="0"/>
              <a:t>oleh/kegiatan dari sebuah </a:t>
            </a:r>
            <a:r>
              <a:rPr lang="id-ID" dirty="0">
                <a:solidFill>
                  <a:srgbClr val="FF0000"/>
                </a:solidFill>
              </a:rPr>
              <a:t>class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id-ID" dirty="0"/>
              <a:t> function </a:t>
            </a:r>
            <a:r>
              <a:rPr lang="en-US" dirty="0"/>
              <a:t>=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variable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830180" y="4207807"/>
            <a:ext cx="4022271" cy="176452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/>
              <a:t>METHOD/</a:t>
            </a:r>
          </a:p>
          <a:p>
            <a:pPr algn="r"/>
            <a:r>
              <a:rPr lang="en-US" sz="2400" b="1" dirty="0"/>
              <a:t>BEHAVIOUR/</a:t>
            </a:r>
          </a:p>
          <a:p>
            <a:pPr algn="r"/>
            <a:r>
              <a:rPr lang="en-US" sz="2400" b="1" dirty="0"/>
              <a:t>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430" y="4275819"/>
            <a:ext cx="2517500" cy="121288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</a:t>
            </a:r>
          </a:p>
          <a:p>
            <a:pPr algn="ctr"/>
            <a:endParaRPr lang="en-US" sz="1000" b="1" dirty="0"/>
          </a:p>
          <a:p>
            <a:pPr algn="ctr"/>
            <a:endParaRPr lang="en-US" sz="2000" b="1" dirty="0"/>
          </a:p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4956312" y="4288505"/>
            <a:ext cx="2041248" cy="1581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Maju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Mundur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Belok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Menanjak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3" name="Straight Arrow Connector 22"/>
          <p:cNvCxnSpPr>
            <a:stCxn id="26" idx="3"/>
            <a:endCxn id="22" idx="1"/>
          </p:cNvCxnSpPr>
          <p:nvPr/>
        </p:nvCxnSpPr>
        <p:spPr>
          <a:xfrm>
            <a:off x="2729052" y="5031375"/>
            <a:ext cx="2227260" cy="47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272838" y="4838225"/>
            <a:ext cx="1139687" cy="38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37308" y="4667663"/>
            <a:ext cx="2291744" cy="7274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mobil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9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836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368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class </a:t>
            </a:r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mobil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$warna;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$CC_mesin;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$merk;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maju(){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“maju”;</a:t>
            </a:r>
          </a:p>
          <a:p>
            <a:r>
              <a:rPr lang="id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$mobil_ku = new mobil;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$mobil_esti = new mobil;</a:t>
            </a:r>
          </a:p>
          <a:p>
            <a:r>
              <a:rPr lang="id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$mobil_messi = new mobil;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354" y="2264181"/>
            <a:ext cx="4138246" cy="253711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namaclass {</a:t>
            </a: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d-ID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6582" y="3463463"/>
            <a:ext cx="3519054" cy="845297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>
                <a:latin typeface="Courier New" pitchFamily="49" charset="0"/>
                <a:cs typeface="Courier New" pitchFamily="49" charset="0"/>
              </a:rPr>
              <a:t>Function nama_method</a:t>
            </a:r>
            <a:r>
              <a:rPr lang="id-ID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id-ID" b="1" dirty="0">
                <a:latin typeface="Courier New" pitchFamily="49" charset="0"/>
                <a:cs typeface="Courier New" pitchFamily="49" charset="0"/>
              </a:rPr>
              <a:t>  //isifungsi</a:t>
            </a:r>
          </a:p>
          <a:p>
            <a:r>
              <a:rPr lang="id-ID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prstClr val="black"/>
                </a:solidFill>
              </a:rPr>
              <a:t>Script </a:t>
            </a:r>
            <a:r>
              <a:rPr lang="id-ID" dirty="0">
                <a:solidFill>
                  <a:prstClr val="black"/>
                </a:solidFill>
              </a:rPr>
              <a:t>Method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06582" y="2763897"/>
            <a:ext cx="3519054" cy="567866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itchFamily="49" charset="0"/>
                <a:cs typeface="Courier New" pitchFamily="49" charset="0"/>
              </a:rPr>
              <a:t>Var $namavariabel;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1354" y="4946073"/>
            <a:ext cx="4138246" cy="7834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b="1" dirty="0">
                <a:latin typeface="Courier New" panose="02070309020205020404" pitchFamily="49" charset="0"/>
                <a:cs typeface="Courier New" panose="02070309020205020404" pitchFamily="49" charset="0"/>
              </a:rPr>
              <a:t>$namaobjek = new namaclass;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80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B27C-A217-4AC5-A878-2F1935F1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Script COPM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02ED-9A77-406B-B5B2-40DD62867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122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b="1" dirty="0">
                <a:solidFill>
                  <a:prstClr val="black"/>
                </a:solidFill>
              </a:rPr>
              <a:t>Pembuatan</a:t>
            </a:r>
            <a:r>
              <a:rPr lang="id-ID" dirty="0">
                <a:solidFill>
                  <a:prstClr val="black"/>
                </a:solidFill>
              </a:rPr>
              <a:t> COPM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3448717" cy="4140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8" y="2110154"/>
            <a:ext cx="4389120" cy="1740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7349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Pembuatan dan Pengaksesan </a:t>
            </a:r>
            <a:r>
              <a:rPr lang="id-ID" dirty="0"/>
              <a:t>COPM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55" y="5600699"/>
            <a:ext cx="4389121" cy="695597"/>
          </a:xfrm>
          <a:solidFill>
            <a:schemeClr val="accent4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d-ID" b="1" dirty="0">
                <a:latin typeface="Courier New" pitchFamily="49" charset="0"/>
                <a:cs typeface="Courier New" pitchFamily="49" charset="0"/>
              </a:rPr>
              <a:t>$nm_objek-&gt;nm_property = isi;</a:t>
            </a:r>
          </a:p>
          <a:p>
            <a:pPr marL="0" indent="0">
              <a:buNone/>
            </a:pPr>
            <a:r>
              <a:rPr lang="id-ID" b="1" dirty="0">
                <a:latin typeface="Courier New" pitchFamily="49" charset="0"/>
                <a:cs typeface="Courier New" pitchFamily="49" charset="0"/>
              </a:rPr>
              <a:t>$nm_objek-&gt;nm_property;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3376247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2110155"/>
            <a:ext cx="4389120" cy="3376246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89120" cy="2654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093295"/>
            <a:ext cx="4389120" cy="247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4642339" y="5600699"/>
            <a:ext cx="4389121" cy="695597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id-ID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id-ID" sz="1800" b="1" dirty="0">
                <a:latin typeface="Courier New" pitchFamily="49" charset="0"/>
                <a:cs typeface="Courier New" pitchFamily="49" charset="0"/>
              </a:rPr>
              <a:t>$nm_objek-&gt;nm_method();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386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b="1" dirty="0"/>
              <a:t>Pembuatan</a:t>
            </a:r>
            <a:r>
              <a:rPr lang="id-ID" dirty="0"/>
              <a:t> </a:t>
            </a:r>
            <a:r>
              <a:rPr lang="id-ID" dirty="0">
                <a:solidFill>
                  <a:prstClr val="black"/>
                </a:solidFill>
              </a:rPr>
              <a:t>COPM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5" y="2110154"/>
            <a:ext cx="4389121" cy="3896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8" y="2110155"/>
            <a:ext cx="4389120" cy="2022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664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Pembuatan dan Pengaksesan </a:t>
            </a:r>
            <a:r>
              <a:rPr lang="id-ID" dirty="0"/>
              <a:t>COPM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55" y="5600699"/>
            <a:ext cx="4389121" cy="695597"/>
          </a:xfrm>
          <a:solidFill>
            <a:schemeClr val="accent4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d-ID" b="1" dirty="0">
                <a:latin typeface="Courier New" pitchFamily="49" charset="0"/>
                <a:cs typeface="Courier New" pitchFamily="49" charset="0"/>
              </a:rPr>
              <a:t>$nm_objek-&gt;nm_property = isi;</a:t>
            </a:r>
          </a:p>
          <a:p>
            <a:pPr marL="0" indent="0">
              <a:buNone/>
            </a:pPr>
            <a:r>
              <a:rPr lang="id-ID" b="1" dirty="0">
                <a:latin typeface="Courier New" pitchFamily="49" charset="0"/>
                <a:cs typeface="Courier New" pitchFamily="49" charset="0"/>
              </a:rPr>
              <a:t>$nm_objek-&gt;nm_property;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3376247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2110155"/>
            <a:ext cx="4389120" cy="3376246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42339" y="5600699"/>
            <a:ext cx="4389121" cy="695597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id-ID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id-ID" sz="1800" b="1" dirty="0">
                <a:latin typeface="Courier New" pitchFamily="49" charset="0"/>
                <a:cs typeface="Courier New" pitchFamily="49" charset="0"/>
              </a:rPr>
              <a:t>$nm_objek-&gt;nm_method();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3"/>
            <a:ext cx="4389120" cy="3153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110155"/>
            <a:ext cx="4389119" cy="16339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2310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265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Andrea Tar. 2012. PHP and MySQL 24-Hour Trainer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2012. PHP &amp; MySQL- The Missing Manual.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2013. PHP &amp; MySQL- The Missing Manual, 2nd Edition.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Deitel</a:t>
            </a:r>
            <a:r>
              <a:rPr lang="en-US" sz="1780" dirty="0"/>
              <a:t>, Harvey and Paul </a:t>
            </a:r>
            <a:r>
              <a:rPr lang="en-US" sz="1780" dirty="0" err="1"/>
              <a:t>Deitel</a:t>
            </a:r>
            <a:r>
              <a:rPr lang="en-US" sz="1780" dirty="0"/>
              <a:t>. 2007. Internet &amp; World Wide Web, How to Program. 4th Edition. Prentice Hall</a:t>
            </a:r>
            <a:endParaRPr lang="it-IT" sz="1780" dirty="0"/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Fadila, Armando dkk. Pro PHP Application Performance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Gilmore, W. Jason.  2010. Beginning </a:t>
            </a:r>
            <a:r>
              <a:rPr lang="en-US" sz="1780" dirty="0" err="1"/>
              <a:t>php</a:t>
            </a:r>
            <a:r>
              <a:rPr lang="en-US" sz="1780" dirty="0"/>
              <a:t> and </a:t>
            </a:r>
            <a:r>
              <a:rPr lang="en-US" sz="1780" dirty="0" err="1"/>
              <a:t>mysql</a:t>
            </a:r>
            <a:r>
              <a:rPr lang="en-US" sz="1780" dirty="0"/>
              <a:t> from novice to professional, 4th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Head First PHP &amp;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Kroenke, David. 2013. Database Processing 12th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Lamandi</a:t>
            </a:r>
            <a:r>
              <a:rPr lang="en-US" sz="1780" dirty="0"/>
              <a:t>, BB </a:t>
            </a:r>
            <a:r>
              <a:rPr lang="en-US" sz="1780" dirty="0" err="1"/>
              <a:t>dkk</a:t>
            </a:r>
            <a:r>
              <a:rPr lang="en-US" sz="1780" dirty="0"/>
              <a:t>. 2009. AJAX and PHP Building Modern Web Applications, 2nd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LesLie. Web Standards Mastering HTML5, CSS3, dan XML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Loka Dwiartara. Menyelam dan Menaklukan Samudra 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Michcel, Lorna Jane. PHP Web Services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Mysql Official. 2016. MySQL 5.7 Reference Manual-en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Official. php_manual_en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PHP6 and MySQL Bible by Steve </a:t>
            </a:r>
            <a:r>
              <a:rPr lang="en-US" sz="1780" dirty="0" err="1"/>
              <a:t>Suehring</a:t>
            </a:r>
            <a:endParaRPr lang="id-ID" sz="1780" dirty="0"/>
          </a:p>
        </p:txBody>
      </p:sp>
    </p:spTree>
    <p:extLst>
      <p:ext uri="{BB962C8B-B14F-4D97-AF65-F5344CB8AC3E}">
        <p14:creationId xmlns:p14="http://schemas.microsoft.com/office/powerpoint/2010/main" val="1602133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392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Power, David. PHP Solutions, 3rd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Powers, David. 2010. PHP Solutions Dynamic Web Design Made Easy 2nd Edition. </a:t>
            </a:r>
            <a:r>
              <a:rPr lang="en-US" sz="1780" dirty="0" err="1"/>
              <a:t>Friendsoft-Apress</a:t>
            </a:r>
            <a:r>
              <a:rPr lang="en-US" sz="1780" dirty="0"/>
              <a:t> company-USA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Robert W. Sebesta. 2014. Programming the World Wide Web 2014 (8th Edition). Addison Wesley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Rochkin Mark. 2013. Expert PHP and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Rosihanari. Basic PHP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Ruehning, dkk. php_mysql_javascript__html5_all-in-one_for_dummies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Sams.Sams.Teach.Yourself.PHP.MySQL.and.Apache.All-in-One.ISBN0672326205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Solichin, Achmad. Pemrograman Web dengan PHP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Tatro, Kvein, dkk. 2013. Programming PHP, 3rd Edition.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Tutorialpoints.com - mysql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Valade</a:t>
            </a:r>
            <a:r>
              <a:rPr lang="en-US" sz="1780" dirty="0"/>
              <a:t>, Janet. PHP &amp; MySQL Web Development All-in-One Desk Reference For Dummies. </a:t>
            </a:r>
            <a:r>
              <a:rPr lang="en-US" sz="1780" dirty="0" err="1"/>
              <a:t>CanadaWiley</a:t>
            </a:r>
            <a:r>
              <a:rPr lang="en-US" sz="1780" dirty="0"/>
              <a:t> </a:t>
            </a:r>
            <a:r>
              <a:rPr lang="en-US" sz="1780" dirty="0" err="1"/>
              <a:t>Publishing,Inc</a:t>
            </a:r>
            <a:r>
              <a:rPr lang="en-US" sz="1780" dirty="0"/>
              <a:t> 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W3Schools Offline 2018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Wahono, Romi Satria. dasar-php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Welling, Luke and Laura Thomson. 2015. Welling php mysql web 3rd. USA - Sam Publishing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Widigdo, Anon Kuncoro. 2003. php dan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Zandstra</a:t>
            </a:r>
            <a:r>
              <a:rPr lang="en-US" sz="1780" dirty="0"/>
              <a:t>, Matt. PHP Objects, Patterns, and Practice, 4th Edition</a:t>
            </a:r>
            <a:endParaRPr lang="it-IT" sz="1780" dirty="0"/>
          </a:p>
        </p:txBody>
      </p:sp>
    </p:spTree>
    <p:extLst>
      <p:ext uri="{BB962C8B-B14F-4D97-AF65-F5344CB8AC3E}">
        <p14:creationId xmlns:p14="http://schemas.microsoft.com/office/powerpoint/2010/main" val="92362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3743</TotalTime>
  <Words>1050</Words>
  <Application>Microsoft Office PowerPoint</Application>
  <PresentationFormat>On-screen Show (4:3)</PresentationFormat>
  <Paragraphs>291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Adobe Heiti Std R</vt:lpstr>
      <vt:lpstr>Agency FB</vt:lpstr>
      <vt:lpstr>Arial</vt:lpstr>
      <vt:lpstr>Calibri</vt:lpstr>
      <vt:lpstr>Calibri Light</vt:lpstr>
      <vt:lpstr>Courier New</vt:lpstr>
      <vt:lpstr>Rockwell</vt:lpstr>
      <vt:lpstr>Segoe UI Semilight</vt:lpstr>
      <vt:lpstr>Wingdings</vt:lpstr>
      <vt:lpstr>Office Theme</vt:lpstr>
      <vt:lpstr>PEMROGRAMAN BERORIENTASI OBJEK 02. Class, Object, Property, Method</vt:lpstr>
      <vt:lpstr>02. Class, Object, Property, Method</vt:lpstr>
      <vt:lpstr>1. Konsep Dasar COPM</vt:lpstr>
      <vt:lpstr>COPM</vt:lpstr>
      <vt:lpstr>Analogi Class, Objek, Property, Method </vt:lpstr>
      <vt:lpstr>Analogi Class, Objek, Property, Method </vt:lpstr>
      <vt:lpstr>2. Class</vt:lpstr>
      <vt:lpstr>Konsep Class</vt:lpstr>
      <vt:lpstr>Script Class</vt:lpstr>
      <vt:lpstr>3. Object</vt:lpstr>
      <vt:lpstr>Konsep Objek</vt:lpstr>
      <vt:lpstr>Script Objek</vt:lpstr>
      <vt:lpstr>3. Property</vt:lpstr>
      <vt:lpstr>Konsep Property</vt:lpstr>
      <vt:lpstr>Script Property</vt:lpstr>
      <vt:lpstr>4. Method</vt:lpstr>
      <vt:lpstr>Konsep Method</vt:lpstr>
      <vt:lpstr>Script Method</vt:lpstr>
      <vt:lpstr>5. Script COPM</vt:lpstr>
      <vt:lpstr>Pembuatan COPM</vt:lpstr>
      <vt:lpstr>Pembuatan dan Pengaksesan COPM</vt:lpstr>
      <vt:lpstr>Pembuatan COPM</vt:lpstr>
      <vt:lpstr>Pembuatan dan Pengaksesan COPM</vt:lpstr>
      <vt:lpstr>Referensi (1)</vt:lpstr>
      <vt:lpstr>Referensi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2586</cp:revision>
  <dcterms:created xsi:type="dcterms:W3CDTF">2016-09-02T03:38:50Z</dcterms:created>
  <dcterms:modified xsi:type="dcterms:W3CDTF">2018-09-17T06:00:29Z</dcterms:modified>
</cp:coreProperties>
</file>