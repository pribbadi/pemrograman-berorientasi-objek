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56" r:id="rId2"/>
    <p:sldId id="518" r:id="rId3"/>
    <p:sldId id="520" r:id="rId4"/>
    <p:sldId id="476" r:id="rId5"/>
    <p:sldId id="521" r:id="rId6"/>
    <p:sldId id="478" r:id="rId7"/>
    <p:sldId id="479" r:id="rId8"/>
    <p:sldId id="480" r:id="rId9"/>
    <p:sldId id="481" r:id="rId10"/>
    <p:sldId id="523" r:id="rId11"/>
    <p:sldId id="483" r:id="rId12"/>
    <p:sldId id="484" r:id="rId13"/>
    <p:sldId id="485" r:id="rId14"/>
    <p:sldId id="486" r:id="rId15"/>
    <p:sldId id="522" r:id="rId16"/>
    <p:sldId id="488" r:id="rId17"/>
    <p:sldId id="489" r:id="rId18"/>
    <p:sldId id="490" r:id="rId19"/>
    <p:sldId id="491" r:id="rId20"/>
    <p:sldId id="411" r:id="rId21"/>
    <p:sldId id="419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28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53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21BEF-BE28-4E76-9D60-7138FB889744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A3C49-5868-4E61-A677-62436B989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9974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CF35F7-200E-49D6-8B7C-AD2DD13040E3}" type="datetimeFigureOut">
              <a:rPr lang="id-ID" smtClean="0"/>
              <a:t>24/09/2018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517B7-8B0C-443C-8177-3FD29EF0AB9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6627367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628650" y="2062163"/>
            <a:ext cx="7886700" cy="1396785"/>
          </a:xfrm>
        </p:spPr>
        <p:txBody>
          <a:bodyPr anchor="b">
            <a:normAutofit/>
          </a:bodyPr>
          <a:lstStyle>
            <a:lvl1pPr algn="ctr">
              <a:defRPr sz="6500" b="1">
                <a:latin typeface="Agency FB" panose="020B0503020202020204" pitchFamily="34" charset="0"/>
              </a:defRPr>
            </a:lvl1pPr>
          </a:lstStyle>
          <a:p>
            <a:r>
              <a:rPr lang="en-US" dirty="0" err="1"/>
              <a:t>Judul</a:t>
            </a:r>
            <a:r>
              <a:rPr lang="en-US" dirty="0"/>
              <a:t> </a:t>
            </a:r>
            <a:r>
              <a:rPr lang="en-US" dirty="0" err="1"/>
              <a:t>Presentasi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28650" y="3602038"/>
            <a:ext cx="7886700" cy="1655762"/>
          </a:xfrm>
        </p:spPr>
        <p:txBody>
          <a:bodyPr/>
          <a:lstStyle>
            <a:lvl1pPr marL="0" indent="0" algn="ctr">
              <a:buNone/>
              <a:defRPr sz="2400">
                <a:latin typeface="Agency FB" panose="020B0503020202020204" pitchFamily="34" charset="0"/>
                <a:ea typeface="Adobe Heiti Std R" panose="020B0400000000000000" pitchFamily="34" charset="-128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F297A3D-1EBC-4C20-A6D0-B4AB835648C5}"/>
              </a:ext>
            </a:extLst>
          </p:cNvPr>
          <p:cNvGrpSpPr/>
          <p:nvPr userDrawn="1"/>
        </p:nvGrpSpPr>
        <p:grpSpPr>
          <a:xfrm>
            <a:off x="7418768" y="6522818"/>
            <a:ext cx="1725232" cy="335186"/>
            <a:chOff x="7418768" y="6522818"/>
            <a:chExt cx="1725232" cy="335186"/>
          </a:xfrm>
        </p:grpSpPr>
        <p:sp>
          <p:nvSpPr>
            <p:cNvPr id="20" name="Rectangle 19"/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1051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oconk.heck.in/files/caramemperbaikilamputl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8165" y="496389"/>
            <a:ext cx="1456955" cy="157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6571" y="496389"/>
            <a:ext cx="6970341" cy="6022268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  <a:lvl2pPr marL="685766" indent="-228589">
              <a:buFont typeface="Wingdings" panose="05000000000000000000" pitchFamily="2" charset="2"/>
              <a:buChar char="q"/>
              <a:defRPr/>
            </a:lvl2pPr>
            <a:lvl3pPr marL="1142942" indent="-228589">
              <a:buFont typeface="Wingdings" panose="05000000000000000000" pitchFamily="2" charset="2"/>
              <a:buChar char="q"/>
              <a:defRPr/>
            </a:lvl3pPr>
            <a:lvl4pPr marL="1600120" indent="-228589">
              <a:buFont typeface="Wingdings" panose="05000000000000000000" pitchFamily="2" charset="2"/>
              <a:buChar char="q"/>
              <a:defRPr/>
            </a:lvl4pPr>
            <a:lvl5pPr marL="2057298" indent="-228589">
              <a:buFont typeface="Wingdings" panose="05000000000000000000" pitchFamily="2" charset="2"/>
              <a:buChar char="q"/>
              <a:defRPr/>
            </a:lvl5pPr>
          </a:lstStyle>
          <a:p>
            <a:pPr lvl="0"/>
            <a:r>
              <a:rPr lang="en-US" dirty="0" err="1"/>
              <a:t>Tulisan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CB640A9-E75A-4093-9667-ABD2E89C2AD7}"/>
              </a:ext>
            </a:extLst>
          </p:cNvPr>
          <p:cNvGrpSpPr/>
          <p:nvPr userDrawn="1"/>
        </p:nvGrpSpPr>
        <p:grpSpPr>
          <a:xfrm>
            <a:off x="7418768" y="6522818"/>
            <a:ext cx="1725232" cy="335186"/>
            <a:chOff x="7418768" y="6522818"/>
            <a:chExt cx="1725232" cy="33518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62ED595-A960-4EC6-A66D-72370EA79B32}"/>
                </a:ext>
              </a:extLst>
            </p:cNvPr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6C5A0C2-4FFC-43FE-AF3C-49817869F3D9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9234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767F55E-A8D4-4080-A68C-7A89EBC25F20}"/>
              </a:ext>
            </a:extLst>
          </p:cNvPr>
          <p:cNvGrpSpPr/>
          <p:nvPr userDrawn="1"/>
        </p:nvGrpSpPr>
        <p:grpSpPr>
          <a:xfrm>
            <a:off x="7418768" y="6522814"/>
            <a:ext cx="1725232" cy="335186"/>
            <a:chOff x="7418768" y="6522818"/>
            <a:chExt cx="1725232" cy="33518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D172E93-39AD-4D63-9BA1-B8B65F6D6F1E}"/>
                </a:ext>
              </a:extLst>
            </p:cNvPr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0B00AE5-724C-4F13-BE78-A3FF537246D8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75263" y="116932"/>
            <a:ext cx="8778231" cy="1233036"/>
          </a:xfrm>
        </p:spPr>
        <p:txBody>
          <a:bodyPr/>
          <a:lstStyle>
            <a:lvl1pPr>
              <a:defRPr baseline="0">
                <a:latin typeface="Agency FB" panose="020B0503020202020204" pitchFamily="34" charset="0"/>
              </a:defRPr>
            </a:lvl1pPr>
          </a:lstStyle>
          <a:p>
            <a:r>
              <a:rPr lang="en-US" dirty="0"/>
              <a:t>Road Map </a:t>
            </a:r>
            <a:r>
              <a:rPr lang="en-US" dirty="0" err="1"/>
              <a:t>Presentasi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5269" y="1668282"/>
            <a:ext cx="8778231" cy="4854536"/>
          </a:xfrm>
        </p:spPr>
        <p:txBody>
          <a:bodyPr>
            <a:normAutofit/>
          </a:bodyPr>
          <a:lstStyle>
            <a:lvl1pPr marL="404793" indent="-404793">
              <a:buFont typeface="+mj-lt"/>
              <a:buAutoNum type="romanUcPeriod"/>
              <a:defRPr sz="3200" baseline="0"/>
            </a:lvl1pPr>
            <a:lvl2pPr marL="914354" indent="-457178">
              <a:buFont typeface="+mj-lt"/>
              <a:buAutoNum type="arabicPeriod"/>
              <a:defRPr sz="2800"/>
            </a:lvl2pPr>
            <a:lvl3pPr marL="1371532" indent="-457178">
              <a:buFont typeface="+mj-lt"/>
              <a:buAutoNum type="alphaLcPeriod"/>
              <a:defRPr sz="2400"/>
            </a:lvl3pPr>
            <a:lvl4pPr marL="1714414" indent="-342882">
              <a:buFont typeface="+mj-lt"/>
              <a:buAutoNum type="arabicParenR"/>
              <a:defRPr sz="2000"/>
            </a:lvl4pPr>
            <a:lvl5pPr marL="2171592" indent="-342882">
              <a:buFont typeface="+mj-lt"/>
              <a:buAutoNum type="alphaLcParenR"/>
              <a:defRPr sz="2000"/>
            </a:lvl5pPr>
          </a:lstStyle>
          <a:p>
            <a:pPr lvl="0"/>
            <a:r>
              <a:rPr lang="en-US" dirty="0"/>
              <a:t>Bab </a:t>
            </a:r>
          </a:p>
          <a:p>
            <a:pPr lvl="1"/>
            <a:r>
              <a:rPr lang="en-US" dirty="0"/>
              <a:t>Sub Bab</a:t>
            </a:r>
          </a:p>
          <a:p>
            <a:pPr lvl="2"/>
            <a:r>
              <a:rPr lang="en-US" dirty="0"/>
              <a:t>Sub Bab Level 2</a:t>
            </a:r>
          </a:p>
          <a:p>
            <a:pPr lvl="3"/>
            <a:r>
              <a:rPr lang="en-US" dirty="0"/>
              <a:t>Sub Bab Level 3</a:t>
            </a:r>
          </a:p>
          <a:p>
            <a:pPr lvl="4"/>
            <a:r>
              <a:rPr lang="en-US" dirty="0"/>
              <a:t>Sub Bab level 4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1" y="1391516"/>
            <a:ext cx="8953493" cy="24550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13181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1120463"/>
            <a:ext cx="7410449" cy="2308538"/>
          </a:xfrm>
        </p:spPr>
        <p:txBody>
          <a:bodyPr anchor="b">
            <a:normAutofit/>
          </a:bodyPr>
          <a:lstStyle>
            <a:lvl1pPr>
              <a:defRPr sz="5000">
                <a:latin typeface="Agency FB" panose="020B0503020202020204" pitchFamily="34" charset="0"/>
              </a:defRPr>
            </a:lvl1pPr>
          </a:lstStyle>
          <a:p>
            <a:r>
              <a:rPr lang="en-US" dirty="0"/>
              <a:t>Bab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31851" y="3541690"/>
            <a:ext cx="7410449" cy="2547973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  <a:latin typeface="Agency FB" panose="020B0503020202020204" pitchFamily="34" charset="0"/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9DAB42-6B87-4E41-8A58-64139319C82D}"/>
              </a:ext>
            </a:extLst>
          </p:cNvPr>
          <p:cNvGrpSpPr/>
          <p:nvPr userDrawn="1"/>
        </p:nvGrpSpPr>
        <p:grpSpPr>
          <a:xfrm>
            <a:off x="7418768" y="6522814"/>
            <a:ext cx="1725232" cy="335186"/>
            <a:chOff x="7418768" y="6522818"/>
            <a:chExt cx="1725232" cy="33518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2EF7F0A-8D0E-4B48-9292-DB29D3890617}"/>
                </a:ext>
              </a:extLst>
            </p:cNvPr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E488A89-9A6A-43B3-8B27-1C5F834123EA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142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5AEF91FE-CE08-4C64-9D1A-BF086DAC22E9}"/>
              </a:ext>
            </a:extLst>
          </p:cNvPr>
          <p:cNvGrpSpPr/>
          <p:nvPr userDrawn="1"/>
        </p:nvGrpSpPr>
        <p:grpSpPr>
          <a:xfrm>
            <a:off x="7418768" y="6522814"/>
            <a:ext cx="1725232" cy="335186"/>
            <a:chOff x="7418768" y="6522818"/>
            <a:chExt cx="1725232" cy="33518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6587F9-4489-4F31-A201-9E603A9EFA33}"/>
                </a:ext>
              </a:extLst>
            </p:cNvPr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D842AC-AEF0-446E-9DFB-E136E63032D2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6251" y="116943"/>
            <a:ext cx="8319407" cy="1325563"/>
          </a:xfrm>
        </p:spPr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en-US" dirty="0"/>
              <a:t>Bab L1/ L2 /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251" y="1658982"/>
            <a:ext cx="8319406" cy="4859675"/>
          </a:xfrm>
        </p:spPr>
        <p:txBody>
          <a:bodyPr/>
          <a:lstStyle>
            <a:lvl1pPr marL="457178" indent="-457178">
              <a:buFont typeface="Wingdings" panose="05000000000000000000" pitchFamily="2" charset="2"/>
              <a:buChar char="q"/>
              <a:defRPr/>
            </a:lvl1pPr>
            <a:lvl2pPr marL="685766" indent="-228589">
              <a:buFont typeface="Wingdings" panose="05000000000000000000" pitchFamily="2" charset="2"/>
              <a:buChar char="q"/>
              <a:defRPr/>
            </a:lvl2pPr>
            <a:lvl3pPr marL="1142942" indent="-228589">
              <a:buFont typeface="Wingdings" panose="05000000000000000000" pitchFamily="2" charset="2"/>
              <a:buChar char="q"/>
              <a:defRPr/>
            </a:lvl3pPr>
            <a:lvl4pPr marL="1600120" indent="-228589">
              <a:buFont typeface="Wingdings" panose="05000000000000000000" pitchFamily="2" charset="2"/>
              <a:buChar char="q"/>
              <a:defRPr/>
            </a:lvl4pPr>
            <a:lvl5pPr marL="2057298" indent="-228589">
              <a:buFont typeface="Wingdings" panose="05000000000000000000" pitchFamily="2" charset="2"/>
              <a:buChar char="q"/>
              <a:defRPr/>
            </a:lvl5pPr>
          </a:lstStyle>
          <a:p>
            <a:pPr lvl="0"/>
            <a:r>
              <a:rPr lang="en-US" dirty="0" err="1"/>
              <a:t>Teks</a:t>
            </a: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115910" y="116943"/>
            <a:ext cx="309707" cy="132556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23696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d-ID"/>
              <a:t>2017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CABF6-CC33-4333-ADC2-3645AF387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37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628650" y="4450177"/>
            <a:ext cx="7886700" cy="1655762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sz="3200" dirty="0" err="1"/>
              <a:t>Teguh</a:t>
            </a:r>
            <a:r>
              <a:rPr lang="en-US" sz="3200" dirty="0"/>
              <a:t> </a:t>
            </a:r>
            <a:r>
              <a:rPr lang="en-US" sz="3200" dirty="0" err="1"/>
              <a:t>Pribadi</a:t>
            </a:r>
            <a:endParaRPr lang="en-US" sz="3200" dirty="0"/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http://www.teguhpribadi</a:t>
            </a:r>
            <a:r>
              <a:rPr lang="id-ID" dirty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wa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/telegram 0857 3600 3963 ||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wa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/call 082 337 475 885</a:t>
            </a:r>
          </a:p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8900" y="2062163"/>
            <a:ext cx="8966200" cy="1396785"/>
          </a:xfrm>
        </p:spPr>
        <p:txBody>
          <a:bodyPr>
            <a:normAutofit/>
          </a:bodyPr>
          <a:lstStyle/>
          <a:p>
            <a:r>
              <a:rPr lang="en-US" sz="4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PEMROGRAMAN BERORIENTASI OBJEK</a:t>
            </a:r>
            <a:br>
              <a:rPr lang="en-US" sz="5900" dirty="0">
                <a:solidFill>
                  <a:prstClr val="black"/>
                </a:solidFill>
              </a:rPr>
            </a:br>
            <a:r>
              <a:rPr lang="id-ID" sz="3600" dirty="0">
                <a:solidFill>
                  <a:srgbClr val="0070C0"/>
                </a:solidFill>
              </a:rPr>
              <a:t>0</a:t>
            </a:r>
            <a:r>
              <a:rPr lang="en-US" sz="3600" dirty="0">
                <a:solidFill>
                  <a:srgbClr val="0070C0"/>
                </a:solidFill>
              </a:rPr>
              <a:t>3</a:t>
            </a:r>
            <a:r>
              <a:rPr lang="id-ID" sz="3600" dirty="0">
                <a:solidFill>
                  <a:srgbClr val="0070C0"/>
                </a:solidFill>
              </a:rPr>
              <a:t>. </a:t>
            </a:r>
            <a:r>
              <a:rPr lang="en-US" sz="3500" dirty="0">
                <a:solidFill>
                  <a:srgbClr val="0070C0"/>
                </a:solidFill>
              </a:rPr>
              <a:t>Encapsulation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053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03. Encapsulation</a:t>
            </a:r>
            <a:endParaRPr lang="en-US" b="1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3550" indent="-463550">
              <a:buFont typeface="+mj-lt"/>
              <a:buAutoNum type="arabicParenR"/>
            </a:pPr>
            <a:r>
              <a:rPr lang="en-US" dirty="0" err="1">
                <a:latin typeface="Agency FB" panose="020B0503020202020204" pitchFamily="34" charset="0"/>
              </a:rPr>
              <a:t>Konsep</a:t>
            </a:r>
            <a:r>
              <a:rPr lang="en-US" dirty="0">
                <a:latin typeface="Agency FB" panose="020B0503020202020204" pitchFamily="34" charset="0"/>
              </a:rPr>
              <a:t> Dasar Encapsulation</a:t>
            </a:r>
          </a:p>
          <a:p>
            <a:pPr marL="463550" indent="-463550">
              <a:buFont typeface="+mj-lt"/>
              <a:buAutoNum type="arabicParenR"/>
            </a:pPr>
            <a:r>
              <a:rPr lang="en-US" dirty="0">
                <a:latin typeface="Agency FB" panose="020B0503020202020204" pitchFamily="34" charset="0"/>
              </a:rPr>
              <a:t>Public</a:t>
            </a:r>
          </a:p>
          <a:p>
            <a:pPr marL="463550" indent="-463550">
              <a:buFont typeface="+mj-lt"/>
              <a:buAutoNum type="arabicParenR"/>
            </a:pPr>
            <a:r>
              <a:rPr lang="en-US" dirty="0">
                <a:latin typeface="Agency FB" panose="020B0503020202020204" pitchFamily="34" charset="0"/>
              </a:rPr>
              <a:t>Protected</a:t>
            </a:r>
          </a:p>
          <a:p>
            <a:pPr marL="463550" indent="-463550">
              <a:buFont typeface="+mj-lt"/>
              <a:buAutoNum type="arabicParenR"/>
            </a:pPr>
            <a:r>
              <a:rPr lang="en-US" dirty="0">
                <a:latin typeface="Agency FB" panose="020B0503020202020204" pitchFamily="34" charset="0"/>
              </a:rPr>
              <a:t>Private</a:t>
            </a:r>
          </a:p>
        </p:txBody>
      </p:sp>
    </p:spTree>
    <p:extLst>
      <p:ext uri="{BB962C8B-B14F-4D97-AF65-F5344CB8AC3E}">
        <p14:creationId xmlns:p14="http://schemas.microsoft.com/office/powerpoint/2010/main" val="369781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3204C-F9B4-4F5E-84AF-9859D708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dirty="0" err="1"/>
              <a:t>Konsep</a:t>
            </a:r>
            <a:r>
              <a:rPr lang="en-US" dirty="0"/>
              <a:t> Dasar Encapsulation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DCA0F-D58A-4F63-A7DA-9DCC8E334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7084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b="1" dirty="0">
                <a:solidFill>
                  <a:prstClr val="black"/>
                </a:solidFill>
              </a:rPr>
              <a:t>Konsep</a:t>
            </a:r>
            <a:r>
              <a:rPr lang="id-ID" dirty="0">
                <a:solidFill>
                  <a:prstClr val="black"/>
                </a:solidFill>
              </a:rPr>
              <a:t> Encapsulation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Pembatasan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akses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kepada</a:t>
            </a:r>
            <a:r>
              <a:rPr lang="en-US" dirty="0">
                <a:solidFill>
                  <a:srgbClr val="0070C0"/>
                </a:solidFill>
              </a:rPr>
              <a:t> </a:t>
            </a:r>
            <a:r>
              <a:rPr lang="en-US" i="1" dirty="0">
                <a:solidFill>
                  <a:srgbClr val="0070C0"/>
                </a:solidFill>
              </a:rPr>
              <a:t>property</a:t>
            </a:r>
            <a:r>
              <a:rPr lang="en-US" dirty="0">
                <a:solidFill>
                  <a:srgbClr val="0070C0"/>
                </a:solidFill>
              </a:rPr>
              <a:t> </a:t>
            </a:r>
            <a:r>
              <a:rPr lang="en-US" dirty="0" err="1">
                <a:solidFill>
                  <a:srgbClr val="0070C0"/>
                </a:solidFill>
              </a:rPr>
              <a:t>dan</a:t>
            </a:r>
            <a:r>
              <a:rPr lang="en-US" dirty="0">
                <a:solidFill>
                  <a:srgbClr val="0070C0"/>
                </a:solidFill>
              </a:rPr>
              <a:t> </a:t>
            </a:r>
            <a:r>
              <a:rPr lang="en-US" i="1" dirty="0">
                <a:solidFill>
                  <a:srgbClr val="0070C0"/>
                </a:solidFill>
              </a:rPr>
              <a:t>method</a:t>
            </a:r>
            <a:r>
              <a:rPr lang="en-US" dirty="0"/>
              <a:t>.</a:t>
            </a:r>
            <a:endParaRPr lang="id-ID" dirty="0"/>
          </a:p>
          <a:p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dikenal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istilah</a:t>
            </a:r>
            <a:r>
              <a:rPr lang="en-US" dirty="0"/>
              <a:t> ‘</a:t>
            </a:r>
            <a:r>
              <a:rPr lang="en-US" b="1" i="1" dirty="0"/>
              <a:t>information hiding’</a:t>
            </a:r>
            <a:r>
              <a:rPr lang="id-ID" b="1" i="1" dirty="0"/>
              <a:t>.</a:t>
            </a:r>
          </a:p>
          <a:p>
            <a:r>
              <a:rPr lang="id-ID" dirty="0"/>
              <a:t>Pengakses property dan method dalam class ada 3 :</a:t>
            </a:r>
          </a:p>
          <a:p>
            <a:pPr marL="804863" lvl="1" indent="-349250">
              <a:buFont typeface="+mj-lt"/>
              <a:buAutoNum type="arabicParenR"/>
            </a:pPr>
            <a:r>
              <a:rPr lang="id-ID" sz="2200" dirty="0"/>
              <a:t>Class itu sendiri</a:t>
            </a:r>
          </a:p>
          <a:p>
            <a:pPr marL="804863" lvl="1" indent="-349250">
              <a:buFont typeface="+mj-lt"/>
              <a:buAutoNum type="arabicParenR"/>
            </a:pPr>
            <a:r>
              <a:rPr lang="id-ID" sz="2200" dirty="0"/>
              <a:t>Luar Kelas</a:t>
            </a:r>
          </a:p>
          <a:p>
            <a:pPr marL="804863" lvl="1" indent="-349250">
              <a:buFont typeface="+mj-lt"/>
              <a:buAutoNum type="arabicParenR"/>
            </a:pPr>
            <a:r>
              <a:rPr lang="id-ID" sz="2200" dirty="0"/>
              <a:t>Class turunan (inheritance)</a:t>
            </a:r>
          </a:p>
          <a:p>
            <a:r>
              <a:rPr lang="id-ID" dirty="0"/>
              <a:t>Ada 3 macam pembatasan pengaksesan (encapsulation) terhadap property dan method dalam sebuah class:</a:t>
            </a:r>
          </a:p>
          <a:p>
            <a:pPr marL="809625" lvl="1" indent="-354013">
              <a:buFont typeface="+mj-lt"/>
              <a:buAutoNum type="arabicParenR"/>
            </a:pPr>
            <a:r>
              <a:rPr lang="id-ID" sz="2000" dirty="0"/>
              <a:t>Public</a:t>
            </a:r>
          </a:p>
          <a:p>
            <a:pPr marL="809625" lvl="1" indent="-354013">
              <a:buFont typeface="+mj-lt"/>
              <a:buAutoNum type="arabicParenR"/>
            </a:pPr>
            <a:r>
              <a:rPr lang="id-ID" sz="2000" dirty="0"/>
              <a:t>Private</a:t>
            </a:r>
          </a:p>
          <a:p>
            <a:pPr marL="809625" lvl="1" indent="-354013">
              <a:buFont typeface="+mj-lt"/>
              <a:buAutoNum type="arabicParenR"/>
            </a:pPr>
            <a:r>
              <a:rPr lang="id-ID" sz="2000" dirty="0"/>
              <a:t>Protected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944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3204C-F9B4-4F5E-84AF-9859D708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2) Public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DCA0F-D58A-4F63-A7DA-9DCC8E334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03679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Public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Class turunan dan s</a:t>
            </a:r>
            <a:r>
              <a:rPr lang="en-US" dirty="0" err="1"/>
              <a:t>eluruh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program di </a:t>
            </a:r>
            <a:r>
              <a:rPr lang="en-US" dirty="0" err="1"/>
              <a:t>luar</a:t>
            </a:r>
            <a:r>
              <a:rPr lang="en-US" dirty="0"/>
              <a:t> class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mengakses</a:t>
            </a:r>
            <a:r>
              <a:rPr lang="id-ID" dirty="0"/>
              <a:t> method dan property-nya secara langsung</a:t>
            </a:r>
            <a:r>
              <a:rPr lang="en-US" dirty="0"/>
              <a:t>.</a:t>
            </a:r>
            <a:endParaRPr lang="id-ID" dirty="0"/>
          </a:p>
          <a:p>
            <a:endParaRPr lang="id-ID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193800" y="3263900"/>
          <a:ext cx="6819900" cy="1920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2002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POSISI AKSES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PROPERTY DAN METHOD BISA DIAKSES?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698">
                <a:tc>
                  <a:txBody>
                    <a:bodyPr/>
                    <a:lstStyle/>
                    <a:p>
                      <a:r>
                        <a:rPr lang="id-ID" dirty="0"/>
                        <a:t>1. Dalam kelas itu sendiri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698">
                <a:tc>
                  <a:txBody>
                    <a:bodyPr/>
                    <a:lstStyle/>
                    <a:p>
                      <a:r>
                        <a:rPr lang="id-ID" dirty="0"/>
                        <a:t>2. Luar Kelas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698">
                <a:tc>
                  <a:txBody>
                    <a:bodyPr/>
                    <a:lstStyle/>
                    <a:p>
                      <a:r>
                        <a:rPr lang="id-ID" dirty="0"/>
                        <a:t>3. Kelas Turunan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646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Public </a:t>
            </a:r>
            <a:br>
              <a:rPr lang="id-ID" dirty="0"/>
            </a:br>
            <a:r>
              <a:rPr lang="id-ID" sz="3200" dirty="0"/>
              <a:t>Script – 1. Dalam Class itu sendiri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4233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2338" y="15755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</a:t>
            </a:r>
            <a:r>
              <a:rPr lang="id-ID" sz="2800" b="1" dirty="0"/>
              <a:t>UTPUT</a:t>
            </a:r>
            <a:endParaRPr lang="en-US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125756" y="15755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756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56" y="2110154"/>
            <a:ext cx="4389120" cy="19417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339" y="2099970"/>
            <a:ext cx="4389120" cy="13276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Flowchart: Connector 12"/>
          <p:cNvSpPr/>
          <p:nvPr/>
        </p:nvSpPr>
        <p:spPr>
          <a:xfrm>
            <a:off x="3772388" y="4569870"/>
            <a:ext cx="1739900" cy="1739900"/>
          </a:xfrm>
          <a:prstGeom prst="flowChartConnector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3800" b="1" dirty="0">
                <a:solidFill>
                  <a:schemeClr val="bg1"/>
                </a:solidFill>
              </a:rPr>
              <a:t>√</a:t>
            </a:r>
            <a:endParaRPr lang="en-US" sz="13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964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Public </a:t>
            </a:r>
            <a:br>
              <a:rPr lang="id-ID" dirty="0"/>
            </a:br>
            <a:r>
              <a:rPr lang="id-ID" sz="3200" dirty="0"/>
              <a:t>Script – 2. Luar Class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4233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2338" y="15755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</a:t>
            </a:r>
            <a:r>
              <a:rPr lang="id-ID" sz="2800" b="1" dirty="0"/>
              <a:t>UTPUT</a:t>
            </a:r>
            <a:endParaRPr lang="en-US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125756" y="15755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756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Flowchart: Connector 8"/>
          <p:cNvSpPr/>
          <p:nvPr/>
        </p:nvSpPr>
        <p:spPr>
          <a:xfrm>
            <a:off x="3772388" y="4569870"/>
            <a:ext cx="1739900" cy="1739900"/>
          </a:xfrm>
          <a:prstGeom prst="flowChartConnector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3800" b="1" dirty="0">
                <a:solidFill>
                  <a:schemeClr val="bg1"/>
                </a:solidFill>
              </a:rPr>
              <a:t>√</a:t>
            </a:r>
            <a:endParaRPr lang="en-US" sz="13800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56" y="2110154"/>
            <a:ext cx="4389120" cy="24728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339" y="2097454"/>
            <a:ext cx="4389120" cy="13456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1552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Public </a:t>
            </a:r>
            <a:br>
              <a:rPr lang="id-ID" dirty="0"/>
            </a:br>
            <a:r>
              <a:rPr lang="id-ID" sz="3200" dirty="0"/>
              <a:t>Script – 3. Kelas Turunan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4233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2338" y="15755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</a:t>
            </a:r>
            <a:r>
              <a:rPr lang="id-ID" sz="2800" b="1" dirty="0"/>
              <a:t>UTPUT</a:t>
            </a:r>
            <a:endParaRPr lang="en-US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125756" y="15755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756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Flowchart: Connector 8"/>
          <p:cNvSpPr/>
          <p:nvPr/>
        </p:nvSpPr>
        <p:spPr>
          <a:xfrm>
            <a:off x="3772388" y="4569870"/>
            <a:ext cx="1739900" cy="1739900"/>
          </a:xfrm>
          <a:prstGeom prst="flowChartConnector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3800" b="1" dirty="0">
                <a:solidFill>
                  <a:schemeClr val="bg1"/>
                </a:solidFill>
              </a:rPr>
              <a:t>√</a:t>
            </a:r>
            <a:endParaRPr lang="en-US" sz="13800" dirty="0">
              <a:solidFill>
                <a:schemeClr val="bg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57" y="2110154"/>
            <a:ext cx="4389120" cy="2088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338" y="2110154"/>
            <a:ext cx="4389120" cy="14107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2947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3204C-F9B4-4F5E-84AF-9859D708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3) Protected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DCA0F-D58A-4F63-A7DA-9DCC8E334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81857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/>
              <a:t>Protected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property</a:t>
            </a:r>
            <a:r>
              <a:rPr lang="id-ID" i="1" dirty="0"/>
              <a:t> </a:t>
            </a:r>
            <a:r>
              <a:rPr lang="en-US" dirty="0" err="1"/>
              <a:t>atau</a:t>
            </a:r>
            <a:r>
              <a:rPr lang="id-ID" dirty="0"/>
              <a:t> </a:t>
            </a:r>
            <a:r>
              <a:rPr lang="en-US" i="1" dirty="0"/>
              <a:t>method</a:t>
            </a:r>
            <a:r>
              <a:rPr lang="id-ID" i="1" dirty="0"/>
              <a:t> </a:t>
            </a:r>
            <a:r>
              <a:rPr lang="en-US" dirty="0" err="1"/>
              <a:t>tersebut</a:t>
            </a:r>
            <a:r>
              <a:rPr lang="en-US" dirty="0"/>
              <a:t> </a:t>
            </a:r>
            <a:r>
              <a:rPr lang="en-US" i="1" dirty="0" err="1"/>
              <a:t>tidak</a:t>
            </a:r>
            <a:r>
              <a:rPr lang="en-US" i="1" dirty="0"/>
              <a:t> </a:t>
            </a:r>
            <a:r>
              <a:rPr lang="en-US" i="1" dirty="0" err="1"/>
              <a:t>bisa</a:t>
            </a:r>
            <a:r>
              <a:rPr lang="en-US" i="1" dirty="0"/>
              <a:t> </a:t>
            </a:r>
            <a:r>
              <a:rPr lang="en-US" i="1" dirty="0" err="1"/>
              <a:t>diakses</a:t>
            </a:r>
            <a:r>
              <a:rPr lang="en-US" i="1" dirty="0"/>
              <a:t> </a:t>
            </a:r>
            <a:r>
              <a:rPr lang="en-US" i="1" dirty="0" err="1"/>
              <a:t>dari</a:t>
            </a:r>
            <a:r>
              <a:rPr lang="en-US" i="1" dirty="0"/>
              <a:t> </a:t>
            </a:r>
            <a:r>
              <a:rPr lang="en-US" i="1" dirty="0" err="1"/>
              <a:t>luar</a:t>
            </a:r>
            <a:r>
              <a:rPr lang="en-US" i="1" dirty="0"/>
              <a:t> class, </a:t>
            </a:r>
            <a:r>
              <a:rPr lang="en-US" i="1" dirty="0" err="1"/>
              <a:t>namun</a:t>
            </a:r>
            <a:r>
              <a:rPr lang="en-US" i="1" dirty="0"/>
              <a:t> </a:t>
            </a:r>
            <a:r>
              <a:rPr lang="en-US" i="1" dirty="0" err="1"/>
              <a:t>bisa</a:t>
            </a:r>
            <a:r>
              <a:rPr lang="en-US" i="1" dirty="0"/>
              <a:t> </a:t>
            </a:r>
            <a:r>
              <a:rPr lang="en-US" i="1" dirty="0" err="1"/>
              <a:t>diakses</a:t>
            </a:r>
            <a:r>
              <a:rPr lang="en-US" i="1" dirty="0"/>
              <a:t> </a:t>
            </a:r>
            <a:r>
              <a:rPr lang="en-US" i="1" dirty="0" err="1"/>
              <a:t>oleh</a:t>
            </a:r>
            <a:r>
              <a:rPr lang="en-US" i="1" dirty="0"/>
              <a:t> class </a:t>
            </a:r>
            <a:r>
              <a:rPr lang="en-US" i="1" dirty="0" err="1"/>
              <a:t>itu</a:t>
            </a:r>
            <a:r>
              <a:rPr lang="en-US" i="1" dirty="0"/>
              <a:t> </a:t>
            </a:r>
            <a:r>
              <a:rPr lang="en-US" i="1" dirty="0" err="1"/>
              <a:t>sendiri</a:t>
            </a:r>
            <a:r>
              <a:rPr lang="en-US" i="1" dirty="0"/>
              <a:t> </a:t>
            </a:r>
            <a:r>
              <a:rPr lang="en-US" i="1" dirty="0" err="1"/>
              <a:t>atau</a:t>
            </a:r>
            <a:r>
              <a:rPr lang="en-US" i="1" dirty="0"/>
              <a:t> </a:t>
            </a:r>
            <a:r>
              <a:rPr lang="en-US" i="1" dirty="0" err="1"/>
              <a:t>turunan</a:t>
            </a:r>
            <a:r>
              <a:rPr lang="en-US" i="1" dirty="0"/>
              <a:t> class </a:t>
            </a:r>
            <a:r>
              <a:rPr lang="en-US" i="1" dirty="0" err="1"/>
              <a:t>tersebut</a:t>
            </a:r>
            <a:r>
              <a:rPr lang="en-US" dirty="0"/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193800" y="3263900"/>
          <a:ext cx="6819900" cy="2072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2002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POSISI AKSES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PROPERTY DAN METHOD BISA DIAKSES?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698">
                <a:tc>
                  <a:txBody>
                    <a:bodyPr/>
                    <a:lstStyle/>
                    <a:p>
                      <a:r>
                        <a:rPr lang="id-ID" dirty="0"/>
                        <a:t>1. Dalam kelas itu sendiri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698">
                <a:tc>
                  <a:txBody>
                    <a:bodyPr/>
                    <a:lstStyle/>
                    <a:p>
                      <a:r>
                        <a:rPr lang="id-ID" dirty="0"/>
                        <a:t>2. Luar Kelas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dirty="0"/>
                        <a:t>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698">
                <a:tc>
                  <a:txBody>
                    <a:bodyPr/>
                    <a:lstStyle/>
                    <a:p>
                      <a:r>
                        <a:rPr lang="id-ID" dirty="0"/>
                        <a:t>3. Kelas Turunan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√</a:t>
                      </a:r>
                      <a:r>
                        <a:rPr lang="id-ID" dirty="0"/>
                        <a:t>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400" i="1" dirty="0"/>
                        <a:t>(tidak</a:t>
                      </a:r>
                      <a:r>
                        <a:rPr lang="id-ID" sz="1400" i="1" baseline="0" dirty="0"/>
                        <a:t> secara langsung)</a:t>
                      </a:r>
                      <a:endParaRPr lang="en-US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088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Protected</a:t>
            </a:r>
            <a:br>
              <a:rPr lang="id-ID" dirty="0"/>
            </a:br>
            <a:r>
              <a:rPr lang="id-ID" sz="3200" dirty="0"/>
              <a:t>Script – 1. Dalam Class itu sendiri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4233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2338" y="15755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</a:t>
            </a:r>
            <a:r>
              <a:rPr lang="id-ID" sz="2800" b="1" dirty="0"/>
              <a:t>UTPUT</a:t>
            </a:r>
            <a:endParaRPr lang="en-US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125756" y="15755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756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Flowchart: Connector 12"/>
          <p:cNvSpPr/>
          <p:nvPr/>
        </p:nvSpPr>
        <p:spPr>
          <a:xfrm>
            <a:off x="3772388" y="4569870"/>
            <a:ext cx="1739900" cy="1739900"/>
          </a:xfrm>
          <a:prstGeom prst="flowChartConnector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3800" b="1" dirty="0">
                <a:solidFill>
                  <a:schemeClr val="bg1"/>
                </a:solidFill>
              </a:rPr>
              <a:t>√</a:t>
            </a:r>
            <a:endParaRPr lang="en-US" sz="13800" dirty="0">
              <a:solidFill>
                <a:schemeClr val="bg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339" y="2110154"/>
            <a:ext cx="4389120" cy="1177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55" y="2110154"/>
            <a:ext cx="4389121" cy="1941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9435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Protected</a:t>
            </a:r>
            <a:br>
              <a:rPr lang="id-ID" dirty="0"/>
            </a:br>
            <a:r>
              <a:rPr lang="id-ID" sz="3200" dirty="0"/>
              <a:t>Script – 2. Luar Class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4233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2338" y="15755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</a:t>
            </a:r>
            <a:r>
              <a:rPr lang="id-ID" sz="2800" b="1" dirty="0"/>
              <a:t>UTPUT</a:t>
            </a:r>
            <a:endParaRPr lang="en-US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125756" y="15755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756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Flowchart: Connector 8"/>
          <p:cNvSpPr/>
          <p:nvPr/>
        </p:nvSpPr>
        <p:spPr>
          <a:xfrm>
            <a:off x="3772388" y="4569870"/>
            <a:ext cx="1739900" cy="1739900"/>
          </a:xfrm>
          <a:prstGeom prst="flowChartConnector">
            <a:avLst/>
          </a:prstGeom>
          <a:solidFill>
            <a:srgbClr val="FF000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lIns="0" tIns="0" rIns="0" bIns="365760" rtlCol="0" anchor="ctr"/>
          <a:lstStyle/>
          <a:p>
            <a:pPr algn="ctr"/>
            <a:r>
              <a:rPr lang="id-ID" sz="23900" b="1" dirty="0">
                <a:solidFill>
                  <a:schemeClr val="bg1"/>
                </a:solidFill>
              </a:rPr>
              <a:t>−</a:t>
            </a:r>
            <a:endParaRPr lang="en-US" sz="23900" dirty="0">
              <a:solidFill>
                <a:schemeClr val="bg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339" y="2110154"/>
            <a:ext cx="4389120" cy="121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2087154"/>
            <a:ext cx="4381526" cy="2444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4336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Protected</a:t>
            </a:r>
            <a:br>
              <a:rPr lang="id-ID" dirty="0"/>
            </a:br>
            <a:r>
              <a:rPr lang="id-ID" sz="3200" dirty="0"/>
              <a:t>Script – 3. Kelas Turunan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4233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2338" y="15755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</a:t>
            </a:r>
            <a:r>
              <a:rPr lang="id-ID" sz="2800" b="1" dirty="0"/>
              <a:t>UTPUT</a:t>
            </a:r>
            <a:endParaRPr lang="en-US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125756" y="15755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756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Flowchart: Connector 8"/>
          <p:cNvSpPr/>
          <p:nvPr/>
        </p:nvSpPr>
        <p:spPr>
          <a:xfrm>
            <a:off x="3772388" y="4569870"/>
            <a:ext cx="1739900" cy="1739900"/>
          </a:xfrm>
          <a:prstGeom prst="flowChartConnector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3800" b="1" dirty="0">
                <a:solidFill>
                  <a:schemeClr val="bg1"/>
                </a:solidFill>
              </a:rPr>
              <a:t>√</a:t>
            </a:r>
            <a:endParaRPr lang="en-US" sz="13800" dirty="0">
              <a:solidFill>
                <a:schemeClr val="bg1"/>
              </a:solidFill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56" y="2110154"/>
            <a:ext cx="4389120" cy="2137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339" y="2110154"/>
            <a:ext cx="4389120" cy="1341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4721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3204C-F9B4-4F5E-84AF-9859D708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4) Private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DCA0F-D58A-4F63-A7DA-9DCC8E334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08387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Private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S</a:t>
            </a:r>
            <a:r>
              <a:rPr lang="en-US" dirty="0" err="1"/>
              <a:t>atu-satunya</a:t>
            </a:r>
            <a:r>
              <a:rPr lang="en-US" dirty="0"/>
              <a:t> yang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mengakses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 </a:t>
            </a:r>
            <a:r>
              <a:rPr lang="en-US" i="1" dirty="0"/>
              <a:t>class</a:t>
            </a:r>
            <a:r>
              <a:rPr lang="en-US" dirty="0"/>
              <a:t> 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. </a:t>
            </a:r>
            <a:r>
              <a:rPr lang="en-US" b="1" i="1" dirty="0"/>
              <a:t>Class</a:t>
            </a:r>
            <a:r>
              <a:rPr lang="en-US" dirty="0"/>
              <a:t> lain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mengaksesnya</a:t>
            </a:r>
            <a:r>
              <a:rPr lang="en-US" dirty="0"/>
              <a:t>, </a:t>
            </a:r>
            <a:r>
              <a:rPr lang="en-US" dirty="0" err="1"/>
              <a:t>termasuk</a:t>
            </a:r>
            <a:r>
              <a:rPr lang="en-US" dirty="0"/>
              <a:t> </a:t>
            </a:r>
            <a:r>
              <a:rPr lang="en-US" i="1" dirty="0"/>
              <a:t>class </a:t>
            </a:r>
            <a:r>
              <a:rPr lang="en-US" i="1" dirty="0" err="1"/>
              <a:t>turunan</a:t>
            </a:r>
            <a:r>
              <a:rPr lang="en-US" dirty="0"/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181100" y="3441700"/>
          <a:ext cx="6819900" cy="1920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2002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POSISI AKSES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PROPERTY DAN METHOD BISA DIAKSES?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698">
                <a:tc>
                  <a:txBody>
                    <a:bodyPr/>
                    <a:lstStyle/>
                    <a:p>
                      <a:r>
                        <a:rPr lang="id-ID" dirty="0"/>
                        <a:t>1. Dalam kelas itu sendiri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698">
                <a:tc>
                  <a:txBody>
                    <a:bodyPr/>
                    <a:lstStyle/>
                    <a:p>
                      <a:r>
                        <a:rPr lang="id-ID" dirty="0"/>
                        <a:t>2. Luar Kelas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dirty="0"/>
                        <a:t>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698">
                <a:tc>
                  <a:txBody>
                    <a:bodyPr/>
                    <a:lstStyle/>
                    <a:p>
                      <a:r>
                        <a:rPr lang="id-ID" dirty="0"/>
                        <a:t>3. Kelas Turunan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dirty="0"/>
                        <a:t>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844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Private</a:t>
            </a:r>
            <a:br>
              <a:rPr lang="id-ID" dirty="0"/>
            </a:br>
            <a:r>
              <a:rPr lang="id-ID" sz="3200" dirty="0"/>
              <a:t>Script – 1. Dalam Class itu sendiri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4233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2338" y="15755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</a:t>
            </a:r>
            <a:r>
              <a:rPr lang="id-ID" sz="2800" b="1" dirty="0"/>
              <a:t>UTPUT</a:t>
            </a:r>
            <a:endParaRPr lang="en-US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125756" y="15755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756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Flowchart: Connector 12"/>
          <p:cNvSpPr/>
          <p:nvPr/>
        </p:nvSpPr>
        <p:spPr>
          <a:xfrm>
            <a:off x="3772388" y="4569870"/>
            <a:ext cx="1739900" cy="1739900"/>
          </a:xfrm>
          <a:prstGeom prst="flowChartConnector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3800" b="1" dirty="0">
                <a:solidFill>
                  <a:schemeClr val="bg1"/>
                </a:solidFill>
              </a:rPr>
              <a:t>√</a:t>
            </a:r>
            <a:endParaRPr lang="en-US" sz="13800" dirty="0">
              <a:solidFill>
                <a:schemeClr val="bg1"/>
              </a:solidFill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339" y="2072054"/>
            <a:ext cx="4389120" cy="1376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56" y="2110154"/>
            <a:ext cx="4399209" cy="2093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8687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Private</a:t>
            </a:r>
            <a:br>
              <a:rPr lang="id-ID" dirty="0"/>
            </a:br>
            <a:r>
              <a:rPr lang="id-ID" sz="3200" dirty="0"/>
              <a:t>Script – 2. Luar Class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4233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2338" y="15755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</a:t>
            </a:r>
            <a:r>
              <a:rPr lang="id-ID" sz="2800" b="1" dirty="0"/>
              <a:t>UTPUT</a:t>
            </a:r>
            <a:endParaRPr lang="en-US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125756" y="15755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756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56" y="2110153"/>
            <a:ext cx="4389120" cy="2521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338" y="2110155"/>
            <a:ext cx="4389119" cy="1433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Flowchart: Connector 8"/>
          <p:cNvSpPr/>
          <p:nvPr/>
        </p:nvSpPr>
        <p:spPr>
          <a:xfrm>
            <a:off x="3772388" y="4569870"/>
            <a:ext cx="1739900" cy="1739900"/>
          </a:xfrm>
          <a:prstGeom prst="flowChartConnector">
            <a:avLst/>
          </a:prstGeom>
          <a:solidFill>
            <a:srgbClr val="FF000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lIns="0" tIns="0" rIns="0" bIns="365760" rtlCol="0" anchor="ctr"/>
          <a:lstStyle/>
          <a:p>
            <a:pPr algn="ctr"/>
            <a:r>
              <a:rPr lang="id-ID" sz="23900" b="1" dirty="0">
                <a:solidFill>
                  <a:schemeClr val="bg1"/>
                </a:solidFill>
              </a:rPr>
              <a:t>−</a:t>
            </a:r>
            <a:endParaRPr lang="en-US" sz="23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966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Private</a:t>
            </a:r>
            <a:br>
              <a:rPr lang="id-ID" dirty="0"/>
            </a:br>
            <a:r>
              <a:rPr lang="id-ID" sz="3200" dirty="0"/>
              <a:t>Script – 3. Kelas Turunan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4233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2338" y="15755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</a:t>
            </a:r>
            <a:r>
              <a:rPr lang="id-ID" sz="2800" b="1" dirty="0"/>
              <a:t>UTPUT</a:t>
            </a:r>
            <a:endParaRPr lang="en-US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125756" y="15755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756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Flowchart: Connector 9"/>
          <p:cNvSpPr/>
          <p:nvPr/>
        </p:nvSpPr>
        <p:spPr>
          <a:xfrm>
            <a:off x="3772388" y="4569870"/>
            <a:ext cx="1739900" cy="1739900"/>
          </a:xfrm>
          <a:prstGeom prst="flowChartConnector">
            <a:avLst/>
          </a:prstGeom>
          <a:solidFill>
            <a:srgbClr val="FF0000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lIns="0" tIns="0" rIns="0" bIns="365760" rtlCol="0" anchor="ctr"/>
          <a:lstStyle/>
          <a:p>
            <a:pPr algn="ctr"/>
            <a:r>
              <a:rPr lang="id-ID" sz="23900" b="1" dirty="0">
                <a:solidFill>
                  <a:schemeClr val="bg1"/>
                </a:solidFill>
              </a:rPr>
              <a:t>−</a:t>
            </a:r>
            <a:endParaRPr lang="en-US" sz="23900" dirty="0">
              <a:solidFill>
                <a:schemeClr val="bg1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339" y="2110155"/>
            <a:ext cx="4389120" cy="1669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56" y="2110154"/>
            <a:ext cx="4389120" cy="2459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5794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Referensi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0" y="1442506"/>
            <a:ext cx="8826500" cy="5076151"/>
          </a:xfrm>
        </p:spPr>
        <p:txBody>
          <a:bodyPr>
            <a:noAutofit/>
          </a:bodyPr>
          <a:lstStyle/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Andrea Tar. 2012. PHP and MySQL 24-Hour Trainer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Brett McLaughlin. 2012. PHP &amp; MySQL- The Missing Manual. USA-Brett McLaughlin. USA-O'REILLY Media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Brett McLaughlin. 2013. PHP &amp; MySQL- The Missing Manual, 2nd Edition. USA-Brett McLaughlin. USA-O'REILLY Media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 err="1"/>
              <a:t>Deitel</a:t>
            </a:r>
            <a:r>
              <a:rPr lang="en-US" sz="1780" dirty="0"/>
              <a:t>, Harvey and Paul </a:t>
            </a:r>
            <a:r>
              <a:rPr lang="en-US" sz="1780" dirty="0" err="1"/>
              <a:t>Deitel</a:t>
            </a:r>
            <a:r>
              <a:rPr lang="en-US" sz="1780" dirty="0"/>
              <a:t>. 2007. Internet &amp; World Wide Web, How to Program. 4th Edition. Prentice Hall</a:t>
            </a:r>
            <a:endParaRPr lang="it-IT" sz="1780" dirty="0"/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Fadila, Armando dkk. Pro PHP Application Performance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Gilmore, W. Jason.  2010. Beginning </a:t>
            </a:r>
            <a:r>
              <a:rPr lang="en-US" sz="1780" dirty="0" err="1"/>
              <a:t>php</a:t>
            </a:r>
            <a:r>
              <a:rPr lang="en-US" sz="1780" dirty="0"/>
              <a:t> and </a:t>
            </a:r>
            <a:r>
              <a:rPr lang="en-US" sz="1780" dirty="0" err="1"/>
              <a:t>mysql</a:t>
            </a:r>
            <a:r>
              <a:rPr lang="en-US" sz="1780" dirty="0"/>
              <a:t> from novice to professional, 4th edition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Head First PHP &amp; MySQL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Kroenke, David. 2013. Database Processing 12th Edition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 err="1"/>
              <a:t>Lamandi</a:t>
            </a:r>
            <a:r>
              <a:rPr lang="en-US" sz="1780" dirty="0"/>
              <a:t>, BB </a:t>
            </a:r>
            <a:r>
              <a:rPr lang="en-US" sz="1780" dirty="0" err="1"/>
              <a:t>dkk</a:t>
            </a:r>
            <a:r>
              <a:rPr lang="en-US" sz="1780" dirty="0"/>
              <a:t>. 2009. AJAX and PHP Building Modern Web Applications, 2nd Edition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LesLie. Web Standards Mastering HTML5, CSS3, dan XML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Loka Dwiartara. Menyelam dan Menaklukan Samudra PHP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Michcel, Lorna Jane. PHP Web Services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Mysql Official. 2016. MySQL 5.7 Reference Manual-en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Official. php_manual_en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PHP6 and MySQL Bible by Steve </a:t>
            </a:r>
            <a:r>
              <a:rPr lang="en-US" sz="1780" dirty="0" err="1"/>
              <a:t>Suehring</a:t>
            </a:r>
            <a:endParaRPr lang="id-ID" sz="1780" dirty="0"/>
          </a:p>
        </p:txBody>
      </p:sp>
    </p:spTree>
    <p:extLst>
      <p:ext uri="{BB962C8B-B14F-4D97-AF65-F5344CB8AC3E}">
        <p14:creationId xmlns:p14="http://schemas.microsoft.com/office/powerpoint/2010/main" val="1602133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Referensi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0" y="1442506"/>
            <a:ext cx="8839200" cy="5076151"/>
          </a:xfrm>
        </p:spPr>
        <p:txBody>
          <a:bodyPr>
            <a:noAutofit/>
          </a:bodyPr>
          <a:lstStyle/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Power, David. PHP Solutions, 3rd Edition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Powers, David. 2010. PHP Solutions Dynamic Web Design Made Easy 2nd Edition. </a:t>
            </a:r>
            <a:r>
              <a:rPr lang="en-US" sz="1780" dirty="0" err="1"/>
              <a:t>Friendsoft-Apress</a:t>
            </a:r>
            <a:r>
              <a:rPr lang="en-US" sz="1780" dirty="0"/>
              <a:t> company-USA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Robert W. Sebesta. 2014. Programming the World Wide Web 2014 (8th Edition). Addison Wesley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Rochkin Mark. 2013. Expert PHP and MySQL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Rosihanari. Basic PHP Tutorial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Ruehning, dkk. php_mysql_javascript__html5_all-in-one_for_dummies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Sams.Sams.Teach.Yourself.PHP.MySQL.and.Apache.All-in-One.ISBN0672326205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Solichin, Achmad. Pemrograman Web dengan PHP MySQL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Tatro, Kvein, dkk. 2013. Programming PHP, 3rd Edition. USA-O'REILLY Media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Tutorialpoints.com - mysql tutorial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 err="1"/>
              <a:t>Valade</a:t>
            </a:r>
            <a:r>
              <a:rPr lang="en-US" sz="1780" dirty="0"/>
              <a:t>, Janet. PHP &amp; MySQL Web Development All-in-One Desk Reference For Dummies. </a:t>
            </a:r>
            <a:r>
              <a:rPr lang="en-US" sz="1780" dirty="0" err="1"/>
              <a:t>CanadaWiley</a:t>
            </a:r>
            <a:r>
              <a:rPr lang="en-US" sz="1780" dirty="0"/>
              <a:t> </a:t>
            </a:r>
            <a:r>
              <a:rPr lang="en-US" sz="1780" dirty="0" err="1"/>
              <a:t>Publishing,Inc</a:t>
            </a:r>
            <a:r>
              <a:rPr lang="en-US" sz="1780" dirty="0"/>
              <a:t> 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W3Schools Offline 2018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Wahono, Romi Satria. dasar-php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Welling, Luke and Laura Thomson. 2015. Welling php mysql web 3rd. USA - Sam Publishing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Widigdo, Anon Kuncoro. 2003. php dan mysql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 err="1"/>
              <a:t>Zandstra</a:t>
            </a:r>
            <a:r>
              <a:rPr lang="en-US" sz="1780" dirty="0"/>
              <a:t>, Matt. PHP Objects, Patterns, and Practice, 4th Edition</a:t>
            </a:r>
            <a:endParaRPr lang="it-IT" sz="1780" dirty="0"/>
          </a:p>
        </p:txBody>
      </p:sp>
    </p:spTree>
    <p:extLst>
      <p:ext uri="{BB962C8B-B14F-4D97-AF65-F5344CB8AC3E}">
        <p14:creationId xmlns:p14="http://schemas.microsoft.com/office/powerpoint/2010/main" val="923629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3769</TotalTime>
  <Words>597</Words>
  <Application>Microsoft Office PowerPoint</Application>
  <PresentationFormat>On-screen Show (4:3)</PresentationFormat>
  <Paragraphs>124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Adobe Heiti Std R</vt:lpstr>
      <vt:lpstr>Agency FB</vt:lpstr>
      <vt:lpstr>Arial</vt:lpstr>
      <vt:lpstr>Calibri</vt:lpstr>
      <vt:lpstr>Calibri Light</vt:lpstr>
      <vt:lpstr>Courier New</vt:lpstr>
      <vt:lpstr>Rockwell</vt:lpstr>
      <vt:lpstr>Segoe UI Semilight</vt:lpstr>
      <vt:lpstr>Wingdings</vt:lpstr>
      <vt:lpstr>Office Theme</vt:lpstr>
      <vt:lpstr>PEMROGRAMAN BERORIENTASI OBJEK 03. Encapsulation</vt:lpstr>
      <vt:lpstr>03. Encapsulation</vt:lpstr>
      <vt:lpstr>1. Konsep Dasar Encapsulation</vt:lpstr>
      <vt:lpstr>Konsep Encapsulation</vt:lpstr>
      <vt:lpstr>2) Public</vt:lpstr>
      <vt:lpstr>Public</vt:lpstr>
      <vt:lpstr>Public  Script – 1. Dalam Class itu sendiri</vt:lpstr>
      <vt:lpstr>Public  Script – 2. Luar Class</vt:lpstr>
      <vt:lpstr>Public  Script – 3. Kelas Turunan</vt:lpstr>
      <vt:lpstr>3) Protected</vt:lpstr>
      <vt:lpstr>Protected</vt:lpstr>
      <vt:lpstr>Protected Script – 1. Dalam Class itu sendiri</vt:lpstr>
      <vt:lpstr>Protected Script – 2. Luar Class</vt:lpstr>
      <vt:lpstr>Protected Script – 3. Kelas Turunan</vt:lpstr>
      <vt:lpstr>4) Private</vt:lpstr>
      <vt:lpstr>Private</vt:lpstr>
      <vt:lpstr>Private Script – 1. Dalam Class itu sendiri</vt:lpstr>
      <vt:lpstr>Private Script – 2. Luar Class</vt:lpstr>
      <vt:lpstr>Private Script – 3. Kelas Turunan</vt:lpstr>
      <vt:lpstr>Referensi (1)</vt:lpstr>
      <vt:lpstr>Referensi (2)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TP</cp:lastModifiedBy>
  <cp:revision>2613</cp:revision>
  <dcterms:created xsi:type="dcterms:W3CDTF">2016-09-02T03:38:50Z</dcterms:created>
  <dcterms:modified xsi:type="dcterms:W3CDTF">2018-09-24T05:17:28Z</dcterms:modified>
</cp:coreProperties>
</file>